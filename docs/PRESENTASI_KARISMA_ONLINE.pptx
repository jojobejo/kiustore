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814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PT. KARISMA INDOAGRO UNIVERSAL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KARISMA ONLINE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Balanced Scorecard (BSC) &amp; Strategic Multi-Platform Launching Report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Eksplorasi Kesiapan Ekosistem Digital Multi-Platform (iOS Swift Native, Android Kotlin/Java, CI3 RESTful API PHP 8.x) Terintegrasi Fintech BRIVA SNAP &amp; Logistik Presisi.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🟢 STATUS KELAYAKAN SISTEM: 96.79% (LAUNCH READY)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Periode Evaluasi: Q3 2026 | Dokumen Resmi Eksekutif &amp; Dewan Direksi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IKHTISAR STRATEGIS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Executive Summary &amp; Pemetaan BSC Sesuai Alur Proyek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1. ALUR FONDASI &amp; SISTEM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Learning &amp; Growth (Bobot: 20%)</a:t>
            </a:r>
          </a:p>
          <a:p>
            <a:br/>
            <a:pPr>
              <a:defRPr sz="2200" b="1">
                <a:solidFill>
                  <a:srgbClr val="10B981"/>
                </a:solidFill>
              </a:defRPr>
            </a:pPr>
            <a:r>
              <a:t>🟢 98.75%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Arsitektur Tri-Platform Native (iOS/Android/CI3), Token SHA-256, BCRYPT, Isolasi Akun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371600"/>
            <a:ext cx="256032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2. ALUR RANTAI PASOK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Internal Process (Bobot: 30%)</a:t>
            </a:r>
          </a:p>
          <a:p>
            <a:br/>
            <a:pPr>
              <a:defRPr sz="2200" b="1">
                <a:solidFill>
                  <a:srgbClr val="F59E0B"/>
                </a:solidFill>
              </a:defRPr>
            </a:pPr>
            <a:r>
              <a:t>🟡 92.40%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Logistik Presisi RajaOngkir Pro (Kecamatan), 30-Min Quote Lock, Dual-Unit Stok &amp; Deadstock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6032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3. ALUR PASAR &amp; KIOS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Customer &amp; Market (Bobot: 25%)</a:t>
            </a:r>
          </a:p>
          <a:p>
            <a:br/>
            <a:pPr>
              <a:defRPr sz="2200" b="1">
                <a:solidFill>
                  <a:srgbClr val="10B981"/>
                </a:solidFill>
              </a:defRPr>
            </a:pPr>
            <a:r>
              <a:t>🟢 100.0%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Apple Guideline 5.1.1(v) In-App Deletion, Guest Browsing, CS Live Chat, Android Play Store V1.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6032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15087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4. ALUR FINANSIAL &amp; KAS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Financial Perspective (Bobot: 25%)</a:t>
            </a:r>
          </a:p>
          <a:p>
            <a:br/>
            <a:pPr>
              <a:defRPr sz="2200" b="1">
                <a:solidFill>
                  <a:srgbClr val="10B981"/>
                </a:solidFill>
              </a:defRPr>
            </a:pPr>
            <a:r>
              <a:t>🟢 98.00%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BRI BRIVA SNAP 15-Min VA, Server-Side Multi-Tier Margin Guard, Fast Cash Flow DSO Acceleration.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SKOR KESIAPAN KESELURUHAN (WEIGHTED COMPOSITE SCORE): 96.79% 🟢 LAUNCH READY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Seluruh modul inti lulus audit regulasi &amp; integrasi fintech. Proyek siap dirilis serentak ke publik.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ALUR FONDASI SISTEM (BOBOT: 20% | SKOR: 98.75% 🟢)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Perspektif 1: Learning, Growth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MATRIKS SASARAN STRATEGIS (MUST-WIN KPIs)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LRN-01: Tri-Platform Native Architecture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Swift iOS + Kotlin Android + CI3 HMVC PHP 8.x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LRN-02: Keamanan &amp; Autentikasi Modern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Bearer Token SHA-256 &amp; Hashing BCRYPT (mobile_api_tokens)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LRN-03: Manajemen Wilayah Salesman [🟢 95%]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Pemetaan Kios Binaan per Salesman Lapangan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LRN-04: Isolasi Akun Demo Internal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Flagging users.is_internal Anti-Distorsi Omset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87775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08760"/>
            <a:ext cx="33220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3-PILAR ANALISIS STRATEGIS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1. Accomplishment (Pencapaian):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Backend CI3 HMVC terisolasi penuh pada /api/v1, throughput tinggi dan memory-efficient.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2. Issues &amp; Root Cause (Tantangan):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Keterbatasan sinyal internet 3G di pelosok persawahan saat salesman sinkronisasi data.</a:t>
            </a:r>
          </a:p>
          <a:p>
            <a:br/>
            <a:pPr>
              <a:defRPr sz="1100" b="1">
                <a:solidFill>
                  <a:srgbClr val="00F0FF"/>
                </a:solidFill>
              </a:defRPr>
            </a:pPr>
            <a:r>
              <a:t>3. Next Steps &amp; Mitigasi: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Optimasi payload JSON &lt; 50KB dan local SQLite caching untuk mode semi-offline.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ALUR RANTAI PASOK &amp; OPERASIONAL (BOBOT: 30% | SKOR: 92.40% 🟡)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Perspektif 2: Internal Business Process &amp; Logistics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MATRIKS SASARAN STRATEGIS (MUST-WIN KPIs)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PRC-01: Logistik Presisi RajaOngkir Pro [🟢 100%]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Kalkulasi tarif kurir hingga Subdistrict ID (Kecamatan)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PRC-02: 30-Min Shipping Quote Lock [🟢 100%]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Penguncian kuotasi tarif pada tabel mobile_shipping_quotes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PRC-03: Dual-Unit Gramasi &amp; Stok Real-Time [🟢 100%]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Otomasi konversi Botol/Pcs vs Dus/Karton multiplier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PRC-04: Deadstock Analytics Engine [🟡 92%]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Deteksi produk slow-moving &gt; 1 tahun (penjualan &lt; 5%)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PRC-05: Transaksi Kredit &amp; Limit Tempo [🔴 78%]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Integrasi limit kredit web ke antarmuka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87775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08760"/>
            <a:ext cx="33220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3-PILAR ANALISIS STRATEGIS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1. Accomplishment (Pencapaian):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Menghilangkan risiko selisih ongkir berkat tarif kecamatan presisi &amp; penguncian 30 menit.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2. Issues &amp; Root Cause (Tantangan):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Plafon kredit tempo mobile tertahan karena verifikasi jaminan fisik masih butuh approval komite.</a:t>
            </a:r>
          </a:p>
          <a:p>
            <a:br/>
            <a:pPr>
              <a:defRPr sz="1100" b="1">
                <a:solidFill>
                  <a:srgbClr val="00F0FF"/>
                </a:solidFill>
              </a:defRPr>
            </a:pPr>
            <a:r>
              <a:t>3. Next Steps &amp; Mitigasi: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Rilis credit scoring otomatis berbasis riwayat transaksi pada Q1 2027.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ALUR PASAR &amp; KIOS MITRA (BOBOT: 25% | SKOR: 100.0% 🟢)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Perspektif 3: Customer, Market Access &amp;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MATRIKS SASARAN STRATEGIS (MUST-WIN KPIs)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CUS-01: Apple Guideline 5.1.1(v) Compliance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Endpoint DELETE /api/v1/account &amp; Non-PII Hash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CUS-02: Guest Browsing Experience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Katalog produk, kategori &amp; promo terbuka tanpa wajib login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CUS-03: Layanan Bantuan Terpadu (Live Chat)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Komunikasi customer-ke-admin real-time via API messages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CUS-04: Kesiapan Google Play Store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Android Native Kotlin/Java MVVM &amp; Data-Light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87775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08760"/>
            <a:ext cx="33220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3-PILAR ANALISIS STRATEGIS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1. Accomplishment (Pencapaian):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Lulus 100% persyaratan Apple App Store Review &amp; Google Play Developer Policy.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2. Issues &amp; Root Cause (Tantangan):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Resistensi kebiasaan kios konvensional yang terbiasa pesan manual via telepon/WhatsApp.</a:t>
            </a:r>
          </a:p>
          <a:p>
            <a:br/>
            <a:pPr>
              <a:defRPr sz="1100" b="1">
                <a:solidFill>
                  <a:srgbClr val="00F0FF"/>
                </a:solidFill>
              </a:defRPr>
            </a:pPr>
            <a:r>
              <a:t>3. Next Steps &amp; Mitigasi: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Program insentif onboarding dan pendampingan salesman dengan booklet interaktif.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ALUR FINANSIAL &amp; MONETISASI (BOBOT: 25% | SKOR: 98.00% 🟢)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Perspektif 4: Financial Revenue &amp; Cash Flow Settlement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MATRIKS SASARAN STRATEGIS (MUST-WIN KPIs)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FIN-01: Integrasi Bank BRI BRIVA SNAP VA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Dynamic VA 15-Minute Expiry &amp; Instant Settlement (briva_api)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FIN-02: Proteksi Multi-Tier Pricing Margin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Enkripsi Server-Side 3 Level Harga (Retail, Grosir, Distr)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FIN-03: Otomasi Multi-Bank Manual Transfer [🟢 100%]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Validasi MIME &amp; Secure Receipt Hash Storage (BCA, Mandiri, BRI)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FIN-04: Akselerasi Cash Flow &amp; DSO [🟡 92%]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Percepatan penerimaan kas &amp; reduksi DSO vs siklus manual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87775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08760"/>
            <a:ext cx="33220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3-PILAR ANALISIS STRATEGIS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1. Accomplishment (Pencapaian):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Otomasi BRIVA memangkas siklus rekonsiliasi pembayaran menjadi instan.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2. Issues &amp; Root Cause (Tantangan):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Kios pelosok terkendala limit harian kartu debit saat pembayaran order nominal besar.</a:t>
            </a:r>
          </a:p>
          <a:p>
            <a:br/>
            <a:pPr>
              <a:defRPr sz="1100" b="1">
                <a:solidFill>
                  <a:srgbClr val="00F0FF"/>
                </a:solidFill>
              </a:defRPr>
            </a:pPr>
            <a:r>
              <a:t>3. Next Steps &amp; Mitigasi: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Sediakan fallback transfer multi-bank dengan antrean verifikasi kilat tim finance.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PROBLEM-SOLVING &amp; RISK MITIGATION MATRIX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3-Pilar Matriks Penyelesaian Masalah &amp; Mitigasi Risiko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1. Regulasi Apple App Store  |  PIC: Tim iOS &amp; Backend  |  Status: 🟢 Done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Capaian: Lulus Apple Guideline 5.1.1(v) via Account Deletion API &amp; Guest Browsing.  →  Mitigasi: Data PII di-hash SHA-256, faktur dianonimkan untuk pajak.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2. Fintech &amp; Pembayaran VA  |  PIC: Tim Finance &amp; IT  |  Status: 🟢 Done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Capaian: Integrasi BRI BRIVA SNAP 15-min auto-settlement real-time.  →  Mitigasi: Fallback transfer manual multi-bank dengan fast-track verifikasi admin.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3. Logistik Pedesaan &amp; Armada  |  PIC: Tim Logistik &amp; Gudang  |  Status: 🟡 Q4 2026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Capaian: RajaOngkir Pro tingkat kecamatan &amp; 30-min price locking.  →  Mitigasi: Integrasikan opsi armada truk internal untuk tonase besar di modul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4. Deadstock Management  |  PIC: Supply Chain &amp; Sales  |  Status: 🟡 Q4 2026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Capaian: Deteksi produk slow-moving &gt; 1 tahun dengan penjualan &lt; 5%.  →  Mitigasi: Hubungkan data deadstock ke modul flash sale clearance otomatis.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681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5. Limit Kredit Tempo Mobile  |  PIC: Finance &amp; Credit Comm  |  Status: 🔴 Q1 2027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Capaian: Modul Piutang &amp; limit kredit berjalan stabil di Web Enterprise.  →  Mitigasi: Kembangkan scoring kredit otomatis berbasis riwayat sebelum buka di mobile.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INFRASTRUKTUR &amp; KEAMANAN SISTEM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Arsitektur Teknologi Tri-Platform &amp; Keamanan Terintegrasi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iOS NATIVE APP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Swift &amp; SwiftUI</a:t>
            </a:r>
            <a:br/>
            <a:br/>
            <a:r>
              <a:t>• HIG Compliant 100%</a:t>
            </a:r>
            <a:br/>
            <a:r>
              <a:t>• Secure Keychain Auth</a:t>
            </a:r>
            <a:br/>
            <a:r>
              <a:t>• iPad Adaptive UI</a:t>
            </a:r>
            <a:br/>
            <a:r>
              <a:t>• In-App Deletion Flow</a:t>
            </a:r>
            <a:br/>
            <a:r>
              <a:t>• Guest Browsing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371600"/>
            <a:ext cx="256032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55448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ANDROID NATIVE APP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Kotlin / Java MVVM</a:t>
            </a:r>
            <a:br/>
            <a:br/>
            <a:r>
              <a:t>• Material Design 3</a:t>
            </a:r>
            <a:br/>
            <a:r>
              <a:t>• Lightweight APK Build</a:t>
            </a:r>
            <a:br/>
            <a:r>
              <a:t>• Data-Light Architecture</a:t>
            </a:r>
            <a:br/>
            <a:r>
              <a:t>• Offline Image Cache</a:t>
            </a:r>
            <a:br/>
            <a:r>
              <a:t>• Live Support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6032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55448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ENTERPRISE BACKEND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CodeIgniter 3 PHP 8.x</a:t>
            </a:r>
            <a:br/>
            <a:br/>
            <a:r>
              <a:t>• HMVC Modular Architecture</a:t>
            </a:r>
            <a:br/>
            <a:r>
              <a:t>• RESTful JSON API v1</a:t>
            </a:r>
            <a:br/>
            <a:r>
              <a:t>• Bearer SHA-256 Token</a:t>
            </a:r>
            <a:br/>
            <a:r>
              <a:t>• BCRYPT Password Hash</a:t>
            </a:r>
            <a:br/>
            <a:r>
              <a:t>• ACID Transaction 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6032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155448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DATABASE &amp; INTEGRASI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MariaDB &amp; External APIs</a:t>
            </a:r>
            <a:br/>
            <a:br/>
            <a:r>
              <a:t>• InnoDB ACID Transactions</a:t>
            </a:r>
            <a:br/>
            <a:r>
              <a:t>• Bank BRI BRIVA SNAP VA</a:t>
            </a:r>
            <a:br/>
            <a:r>
              <a:t>• RajaOngkir Pro API</a:t>
            </a:r>
            <a:br/>
            <a:r>
              <a:t>• Non-PII Audit Deletion</a:t>
            </a:r>
            <a:br/>
            <a:r>
              <a:t>• Multi-Tier Price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TATA KELOLA OPERASIONAL PUSAT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Web Enterprise Back-Office &amp; Manajemen Operasional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66944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• Dashboard Eksekutif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Visualisasi tren omset, rasio konversi pesanan, dan monitoring piutang salesman secara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5266944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64224" y="164592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• Antrean Packing &amp; Pengiriman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Workflow pemrosesan order gudang, cetak surat jalan, faktur pajak, dan integrasi nomor resi kurir.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66944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• Sales Force &amp; Territory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Pemetaan kios binaan per salesman lapangan untuk monitoring target penjualan dan rute kunjungan.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931920"/>
            <a:ext cx="5266944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411480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• Verifikasi Keuangan &amp; Piutang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Rekonsiliasi otomatis BRIVA dan validasi cepat bukti transfer manual multi-bank.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STRATEGI ROLLOUT &amp; IMPLEMENTASI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Rencana Peluncuran &amp; Strategi Go-To-Market (3 Tahap)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381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723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FASE 1: STORE RELEASE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Agustus 2026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Publikasi serentak di Apple App Store &amp; Google Play Store, pengujian live production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63040"/>
            <a:ext cx="34381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45920"/>
            <a:ext cx="30723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FASE 2: PILOT ONBOARDING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September 2026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Onboarding 100 Kios Mitra percontohan di area Jawa Timur &amp; Jawa Tengah dengan pendampingan salesman.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381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645920"/>
            <a:ext cx="30723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FASE 3: NATIONAL ROLLOUT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Oktober 2026 - Seterusnya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Rollout penuh ke seluruh jaringan kios nasional, integrasi program reward poin dan kampanye promo regional.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ROADMAP TEKNOLOGI &amp; INOVASI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Roadmap Inovasi Berkelanjutan (2026 - 2027)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381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723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Q4 2026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Deadstock Clearance &amp; Internal Fleet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Otomasi flash sale obat slow moving dan penambahan opsi pengiriman armada truk internal.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63040"/>
            <a:ext cx="34381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45920"/>
            <a:ext cx="30723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Q1 2027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Smart Credit Scoring &amp; Plafon Tempo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Algoritma penilaian kelayakan kredit otomatis berbasis histori transaksi untuk belanja tempo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381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645920"/>
            <a:ext cx="30723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Q2 2027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AI Crop Disease Diagnosis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Rekomendasi produk fungisida/insektisida berbasis scan foto daun &amp; deteksi hama berbasis 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PENUTUP &amp; KEPUTUSAN STRATEGIS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Kesimpulan Eksekutif &amp; Rekomendasi Dewan Direksi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RINGKASAN STATUS KESIAPAN AKHIR (FINAL READINESS VERIFICATION):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✓  Ekosistem digital multi-platform Karisma Online telah mencapai skor kesiapan terverifikasi 96.79% (🟢 LAUNCH READY).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✓  Seluruh hambatan regulasi Apple App Store Guideline 5.1.1(v) telah diselesaikan 100% dengan mekanisme penghapusan akun mandiri dan hashing non-PII.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✓  Integrasi fintech BRI BRIVA SNAP telah aktif dengan sistem dynamic VA 15 menit dan rekonsiliasi instan.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✓  Logistik presisi RajaOngkir Pro telah mengunci tarif hingga tingkat kecamatan tujuan.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✓  Direkomendasikan kepada Dewan Direksi untuk menyetujui peluncuran publik (Go-Live) dan pelaksanaan Pilot Project Onboarding 100 Kios Mitra.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