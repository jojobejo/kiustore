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48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A580C"/>
                </a:solidFill>
              </a:defRPr>
            </a:pPr>
            <a:r>
              <a:t>EXECUTIVE BALANCED SCORECARD REPORT 2026</a:t>
            </a:r>
          </a:p>
          <a:p>
            <a:pPr algn="ctr"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KARISMA ONLINE // BALANCED SCORECARD</a:t>
            </a:r>
          </a:p>
          <a:p>
            <a:pPr algn="ctr">
              <a:spcBef>
                <a:spcPts val="800"/>
              </a:spcBef>
              <a:defRPr sz="1500">
                <a:solidFill>
                  <a:srgbClr val="94A3B8"/>
                </a:solidFill>
              </a:defRPr>
            </a:pPr>
            <a:r>
              <a:t>Evaluasi Kinerja Terpadu 9 Sisi Strategis Berbasis Sumber Data Tunggal (Single Source of Truth)</a:t>
            </a:r>
          </a:p>
          <a:p>
            <a:pPr algn="ctr">
              <a:spcBef>
                <a:spcPts val="2000"/>
              </a:spcBef>
              <a:defRPr sz="1100" b="1">
                <a:solidFill>
                  <a:srgbClr val="0284C7"/>
                </a:solidFill>
              </a:defRPr>
            </a:pPr>
            <a:r>
              <a:t>PT. KARISMA INDOAGRO UNIVERSAL  •  PERIODE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754880"/>
            <a:ext cx="219456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846320"/>
            <a:ext cx="21945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94.2%</a:t>
            </a:r>
          </a:p>
          <a:p>
            <a:pPr algn="ctr">
              <a:defRPr sz="950" b="1">
                <a:solidFill>
                  <a:srgbClr val="94A3B8"/>
                </a:solidFill>
              </a:defRPr>
            </a:pPr>
            <a:r>
              <a:t>Rata-Rata 9 BSC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4754880"/>
            <a:ext cx="219456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4846320"/>
            <a:ext cx="21945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&lt; 5 Detik</a:t>
            </a:r>
          </a:p>
          <a:p>
            <a:pPr algn="ctr">
              <a:defRPr sz="950" b="1">
                <a:solidFill>
                  <a:srgbClr val="94A3B8"/>
                </a:solidFill>
              </a:defRPr>
            </a:pPr>
            <a:r>
              <a:t>Otomasi BRIVA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754880"/>
            <a:ext cx="219456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4846320"/>
            <a:ext cx="21945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100%</a:t>
            </a:r>
          </a:p>
          <a:p>
            <a:pPr algn="ctr">
              <a:defRPr sz="950" b="1">
                <a:solidFill>
                  <a:srgbClr val="94A3B8"/>
                </a:solidFill>
              </a:defRPr>
            </a:pPr>
            <a:r>
              <a:t>Kepatuhan App 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4754880"/>
            <a:ext cx="219456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4846320"/>
            <a:ext cx="21945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Kecamatan</a:t>
            </a:r>
          </a:p>
          <a:p>
            <a:pPr algn="ctr">
              <a:defRPr sz="950" b="1">
                <a:solidFill>
                  <a:srgbClr val="94A3B8"/>
                </a:solidFill>
              </a:defRPr>
            </a:pPr>
            <a:r>
              <a:t>Akurasi Logistik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KARISMA ONLINE // BALANCED SCORECARD (BSC) AUDIT REPORT              SUMBER DATA TERVERIFIKASI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DASHBOARD EKSEKUTIF: 9 BALANCED SCORECARDS (BSC) KARISMA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Evaluasi Kinerja Terpadu Berbasis Sumber Data Tunggal (Single Source of Truth)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1109441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377440"/>
                <a:gridCol w="2560320"/>
                <a:gridCol w="3504895"/>
                <a:gridCol w="91440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Perspektif BSC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Unit Penanggung Jawab (Owner)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Measure Lead Utama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Overall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Indikator Kinerja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BSC Karisma Online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Tim Digital &amp; IT Karisma Online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Status Kesiapan API, Test Coverage, Kepatuhan App Store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D97706"/>
                          </a:solidFill>
                        </a:defRPr>
                      </a:pPr>
                      <a:r>
                        <a:t>■ On Progress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BSC Sisi Customer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Tim Customer Experience &amp; Komersial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Indeks Rating Layanan Sales, Retensi Mitra, Siklus Order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D97706"/>
                          </a:solidFill>
                        </a:defRPr>
                      </a:pPr>
                      <a:r>
                        <a:t>■ On Progress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BSC Divisi Sales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Kepala Divisi Penjualan &amp; Distribusi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Utilisasi Limit Kredit Toko, Rasio Toko Aktif Order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89%</a:t>
                      </a:r>
                    </a:p>
                  </a:txBody>
                  <a:tcPr anchor="ctr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DC2626"/>
                          </a:solidFill>
                        </a:defRPr>
                      </a:pPr>
                      <a:r>
                        <a:t>■ Perlu Intervensi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BSC Logistik &amp; Warehouse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Tim Logistik &amp; Operasional Gudang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SLA Pengemasan (&lt;2 Jam), Akurasi Ongkir Kecamatan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D97706"/>
                          </a:solidFill>
                        </a:defRPr>
                      </a:pPr>
                      <a:r>
                        <a:t>■ On Progress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BSC Sisi Multiplatform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Tim Mobile Engineering &amp; UI/UX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App Store Review Clearance, Android Crash Rate (&lt;0.1%)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D97706"/>
                          </a:solidFill>
                        </a:defRPr>
                      </a:pPr>
                      <a:r>
                        <a:t>■ On Progress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BSC Sisi Perusahaan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Dewan Direksi &amp; Tim Manajemen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Days Sales Outstanding (DSO), Efisiensi Biaya per Order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D97706"/>
                          </a:solidFill>
                        </a:defRPr>
                      </a:pPr>
                      <a:r>
                        <a:t>■ On Progress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BSC Payment &amp; Keuangan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Divisi Keuangan &amp; Treasury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Adopsi BRIVA, Kecepatan Rekonsiliasi Kas, Rasio Over-Limit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D97706"/>
                          </a:solidFill>
                        </a:defRPr>
                      </a:pPr>
                      <a:r>
                        <a:t>■ On Progress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BSC Sisi Teknis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Tim Lead Backend Engineering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API Latency (&lt;200ms), Error Rate (&lt;0.01%), ACID Transaksi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D97706"/>
                          </a:solidFill>
                        </a:defRPr>
                      </a:pPr>
                      <a:r>
                        <a:t>■ On Progress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BSC Sisi Keamanan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Tim Security &amp; 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Zero Critical Vulnerability, Token Expiry, Audit Non-PII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97%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D97706"/>
                          </a:solidFill>
                        </a:defRPr>
                      </a:pPr>
                      <a:r>
                        <a:t>■ On Progress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2628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PRINSIP INTEGRITAS DATA &amp; SUMBER DOKUMENTASI RESMI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846320"/>
            <a:ext cx="5468112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5285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1. Arsitektur &amp; Kepatuhan Platform (95%)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Terverifikasi pada controller mobile CodeIgniter (Mobile.php) dan arsitektur iOS Swift/Android Kotlin. Lolos Apple Review 5.1.1 melalui audit tabel mobile_account_deletions.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846320"/>
            <a:ext cx="5468112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892040"/>
            <a:ext cx="5285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2. Finansial &amp; Limit Kredit Pelanggan (94%)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Data tagihan berjalan dan limit kredit dibaca langsung dari customers.max_credit dan agregasi tabel orders serta view database v_products.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715000"/>
            <a:ext cx="5468112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5285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3. Kesiapan Divisi Sales &amp; Distribusi (89%)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Pemetaan akun toko binaan aktif di backend (customers.salesman_id). Tantangan utama terletak pada legalitas skema komisi teritori digital untuk mendorong adopsi lapangan.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5715000"/>
            <a:ext cx="5468112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5760720"/>
            <a:ext cx="5285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4. Ekosistem Pembayaran &amp; Virtual Account (96%)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Kanal BRIVA aktif via library Brivaws pada tabel briva_api dengan auto-update status pembayaran instan ke pesanan lunas (status = 10).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109441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BALANCED SCORECARD: KARISMA ONLINE (PLATFORM &amp; DIGITAL ECOSYSTEM)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2011680" cy="548640"/>
          </a:xfrm>
          <a:prstGeom prst="rect">
            <a:avLst/>
          </a:prstGeom>
          <a:solidFill>
            <a:srgbClr val="0F172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Objective 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685800"/>
            <a:ext cx="9082735" cy="548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713232"/>
            <a:ext cx="88998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Digitalisasi menyeluruh kanal pemesanan B2B/B2C, integrasi monitoring limit kredit &amp; penagihan virtual account (BRIVA), percepatan pemenuhan order, serta kesiapan distribusi multi-platform yang aman dan patuh regulasi.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Owner: Tim Digital &amp; IT Karisma Online    |    Measure lead: Status Kesiapan API, Test Coverage, Kepatuhan App Store    |    Frequency: Bulanan    |    Overall Status: 95%    |    31-Agu-26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60020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419295"/>
                <a:gridCol w="3017520"/>
                <a:gridCol w="1097280"/>
              </a:tblGrid>
              <a:tr h="20900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Must Win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Key initiatives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Dasar Verifikasi / Sumber Data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  <a:tr h="209005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KEANDALAN AKSES &amp; PENGALAMAN PENGGUNA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KEANDALAN AKSES &amp; PENGALAMAN PENGGUNA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KEANDALAN AKSES &amp; PENGALAMAN PENGGUNA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1.1 Akses pemesanan mandiri 24/7 (Aplikasi iOS Swift, Android &amp; Web KiuStore)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MainTabView, Catalog, Cart, Checkout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09005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1.2 Mode jelajah katalog produk &amp; promo tanpa kewajiban login awal (Guest Browsing)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GuestAccessTests &amp; LoginView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09005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1.3 Sinkronisasi harga grosir &amp; stok produk real-time via API /api/v1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APIEndpoint &amp; Staging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09005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INTEGRASI FINANSIAL &amp; TRANSAKSI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INTEGRASI FINANSIAL &amp; TRANSAKSI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INTEGRASI FINANSIAL &amp; TRANSAKSI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2.1 Integrasi pembayaran Virtual Account instan BRIVA via Brivaws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MobileBrivaPaymentAPI &amp; OrderTests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09005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2.2 Visibilitas limit kredit (max_credit) &amp; tagihan berjalan real-time bagi mitra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CustomerFinanceTests &amp; GET /customer/finance-summary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09005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2.3 Otomasi validasi persetujuan pesanan sesuai plafon kredit toko (payment_method = 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CheckoutViewModelTests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09005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KECEPATAN LOGISTIK &amp; ORDER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KECEPATAN LOGISTIK &amp; ORDER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KECEPATAN LOGISTIK &amp; ORDER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3.1 Pemrosesan alur pesanan dari checkout hingga pengiriman (Order SLA)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Alur status pesanan 1, 2, 3, 4,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09005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3.2 Transparansi status kirim, ongkir (mobile_shipping_quotes) &amp; faktur digital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ShippingTests &amp; InvoiceView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09005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3.3 Fitur pemesanan cepat rutin 1-sentuhan (Quick Re-Order)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Status: Dalam pengembangan modul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DC2626"/>
                    </a:solidFill>
                  </a:tcPr>
                </a:tc>
              </a:tr>
              <a:tr h="209005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4. KEPATUHAN REGULASI &amp; DATA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4. KEPATUHAN REGULASI &amp; DATA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4. KEPATUHAN REGULASI &amp;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4.1 Kepatuhan 100% standar Apple App Review &amp; Privasi (Hapus Akun DELETE /account)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AppReviewResolution &amp; ProductionSafetyTests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09005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4.2 Layanan bantuan pelanggan interaktif terintegrasi (In-App Chat Support)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ChatTests &amp; ChatView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09005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4.3 Pembentukan duta digital (Digital Champion) di cabang untuk pendampingan toko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Status: Menunggu standardisasi SOP cabang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DC2626"/>
                    </a:solidFill>
                  </a:tcPr>
                </a:tc>
              </a:tr>
              <a:tr h="209015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 Capaian Kinerja Terverifikasi (Overall Score)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526280"/>
            <a:ext cx="11094415" cy="274320"/>
          </a:xfrm>
          <a:prstGeom prst="rect">
            <a:avLst/>
          </a:prstGeom>
          <a:solidFill>
            <a:srgbClr val="0F172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4456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■ &gt;= 100% (Tercapai / Teruji Lulus Penuh)      ■ On Progress &lt;100% - 90% (Live Staging / Dalam Pengawalan)      ■ Belum Start / &lt;90% (Perlu Kebijakan Manajemen)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46320"/>
            <a:ext cx="11094415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59669"/>
                </a:solidFill>
              </a:defRPr>
            </a:pPr>
            <a:r>
              <a:t>PENCAPAIAN TERVERIFIKASI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Lolos 100% kepatuhan Apple Guideline 5.1.1 (Penghapusan akun terenkripsi SHA-256 pada mobile_account_deletions).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Integrasi limit kredit real-time (customers.max_credit) aktif mencegah pesanan over-limit.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580C"/>
                </a:solidFill>
              </a:defRPr>
            </a:pPr>
            <a:r>
              <a:t>TANTANGAN &amp; ISU LAPANGAN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Penyesuaian pemahaman alur digital bagi toko-toko konvensional di area perintis.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Alur retur barang rusak masih mengandalkan verifikasi fisik manual di depo/gudang.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RENCANA AKSI &amp; MITIGASI RISIKO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Meluncurkan fitur Quick Re-Order 1-klik untuk memudahkan pesanan paket mingguan toko mitra.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Menetapkan target penyiapan barang gudang seragam (SLA 2 jam) dan modul unggah foto retur digital.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109441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BALANCED SCORECARD: SISI CUSTOMER (CUSTOMER EXPERIENCE &amp; MITRA ACCESS)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2011680" cy="548640"/>
          </a:xfrm>
          <a:prstGeom prst="rect">
            <a:avLst/>
          </a:prstGeom>
          <a:solidFill>
            <a:srgbClr val="0F172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Objective 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685800"/>
            <a:ext cx="9082735" cy="548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713232"/>
            <a:ext cx="88998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Memberikan kemudahan pemesanan mandiri 24/7, fleksibilitas tingkatan harga sesuai level mitra, transparansi kupon diskon, layanan interaktif responsif, dan keterbukaan ulasan kepuasan produk.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Owner: Tim Customer Experience &amp; Komersial    |    Measure lead: Indeks Rating Layanan Sales, Retensi Mitra, Siklus Order    |    Frequency: Bulanan    |    Overall Status: 94%    |    31-Agu-26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60020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419295"/>
                <a:gridCol w="3017520"/>
                <a:gridCol w="1097280"/>
              </a:tblGrid>
              <a:tr h="29260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Must Win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Key initiatives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Dasar Verifikasi / Sumber Data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  <a:tr h="292608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KEMUDAHAN AKSES &amp; BELANJA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KEMUDAHAN AKSES &amp; BELANJA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KEMUDAHAN AKSES &amp; BELANJA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1.1 Mode Guest Browsing katalog produk tanpa kewajiban login awal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Endpoint GET /api/v1/products &amp; UI Katalog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1.2 Manajemen data profil toko, kontak, dan multi-alamat pengiriman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Endpoint PUT /api/v1/profile &amp; Tabel customers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1.3 Sistem kupon promo potongan harga transaksi belanja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Tabel coupons &amp; validasi Shop.php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LAYANAN INTERAKTIF &amp; CHAT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LAYANAN INTERAKTIF &amp; CHAT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LAYANAN INTERAKTIF &amp; CHAT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2.1 Saluran pesan langsung Customer Service 2 arah (In-App Live Chat)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Endpoint /api/v1/messages &amp; Tabel message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2.2 Sistem ulasan dan rating bintang kualitas produk pasca pesanan selesai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Endpoint POST /api/v1/orders/{id}/complete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2.3 Notifikasi pengingat pembayaran &amp; status pesanan instan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Status: Integrasi gateway notifikasi pesan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DC2626"/>
                    </a:solidFill>
                  </a:tcPr>
                </a:tc>
              </a:tr>
              <a:tr h="292608">
                <a:tc rowSpan="2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TRANSPARANSI &amp; LOYALITAS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TRANSPARANSI &amp; LOYALITAS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3.1 Akses riwayat faktur, rincian biaya, dan status pengiriman real-time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Endpoint GET /api/v1/orders &amp; Tabel orders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3.2 Program poin loyalitas dan reward kuota diskon toko aktif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Status: Tahap perancangan skema reward Q4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DC262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 Capaian Kinerja Terverifikasi (Overall Score)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526280"/>
            <a:ext cx="11094415" cy="274320"/>
          </a:xfrm>
          <a:prstGeom prst="rect">
            <a:avLst/>
          </a:prstGeom>
          <a:solidFill>
            <a:srgbClr val="0F172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4456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■ &gt;= 100% (Tercapai / Teruji Lulus Penuh)      ■ On Progress &lt;100% - 90% (Live Staging / Dalam Pengawalan)      ■ Belum Start / &lt;90% (Perlu Kebijakan Manajemen)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46320"/>
            <a:ext cx="11094415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59669"/>
                </a:solidFill>
              </a:defRPr>
            </a:pPr>
            <a:r>
              <a:t>PENCAPAIAN TERVERIFIKASI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Katalog terbuka tanpa login memudahkan eksplorasi produk.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Live Chat CS aktif menghubungkan kios langsung ke operator kantor pusat.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580C"/>
                </a:solidFill>
              </a:defRPr>
            </a:pPr>
            <a:r>
              <a:t>TANTANGAN &amp; ISU LAPANGAN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Kios pedesaan masih terbiasa menelepon pribadi salesman.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RENCANA AKSI &amp; MITIGASI RISIKO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Menyediakan video panduan ringkas 1 menit dan voucher promo belanja perdana via aplikasi.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109441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BALANCED SCORECARD: SISI SALES (SALES FORCE ENABLEMENT &amp; DISTRIBUSI)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2011680" cy="548640"/>
          </a:xfrm>
          <a:prstGeom prst="rect">
            <a:avLst/>
          </a:prstGeom>
          <a:solidFill>
            <a:srgbClr val="0F172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Objective 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685800"/>
            <a:ext cx="9082735" cy="548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713232"/>
            <a:ext cx="88998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Memberdayakan tenaga penjual lapangan, mengoptimalkan pembagian wilayah kios binaan, mengawal kepatuhan limit piutang, dan mempercepat rekonsiliasi order digital.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Owner: Kepala Divisi Penjualan &amp; Distribusi    |    Measure lead: Utilisasi Limit Kredit, Rasio Toko Aktif, Rating Layanan Sales    |    Frequency: Bulanan    |    Overall Status: 89%    |    31-Agu-26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60020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419295"/>
                <a:gridCol w="3017520"/>
                <a:gridCol w="1097280"/>
              </a:tblGrid>
              <a:tr h="29260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Must Win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Key initiatives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Dasar Verifikasi / Sumber Data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  <a:tr h="292608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PEMETAAN WILAYAH &amp; TOKO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PEMETAAN WILAYAH &amp; TOKO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PEMETAAN WILAYAH &amp; TOKO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1.1 Penugasan kios binaan per salesman lapangan di basis data terpusat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Field customers.salesman_id &amp; Admin Salesman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1.2 Visibilitas riwayat transaksi dan status pembayaran toko binaan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Modul Admin Salesman API &amp; Controller Orders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1.3 Perencanaan rute kunjungan sales terintegrasi riwayat order kios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Status: Dalam perancangan modul territory route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DC2626"/>
                    </a:solidFill>
                  </a:tcPr>
                </a:tc>
              </a:tr>
              <a:tr h="292608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PENGAWALAN PLAFON KREDIT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PENGAWALAN PLAFON KREDIT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PENGAWALAN PLAFON KREDIT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2.1 Visibilitas limit kredit (max_credit) toko binaan saat pemesanan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Model Mobile_api_model &amp; Admin Piutang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2.2 Alur validasi persetujuan pesanan tempo digital oleh supervisor sales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Status alur piutang di Piutang.php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2.3 Skema insentif komisi teritori digital untuk mendorong adopsi mobile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Status: Menunggu legalitas formal skema komisi direksi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DC2626"/>
                    </a:solidFill>
                  </a:tcPr>
                </a:tc>
              </a:tr>
              <a:tr h="292608">
                <a:tc rowSpan="2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PENDAMPINGAN &amp; KUALITAS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PENDAMPINGAN &amp; KUALITAS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3.1 Program pendampingan instalasi aplikasi ke kios mitra perintis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Pelaksanaan onboarding tim cabang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DC2626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3.2 Sistem penilaian kinerja pelayanan salesman dari ulasan toko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Modul Rating.php &amp; Tabel reviews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 Capaian Kinerja Terverifikasi (Overall Score)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89%</a:t>
                      </a:r>
                    </a:p>
                  </a:txBody>
                  <a:tcPr anchor="ctr">
                    <a:solidFill>
                      <a:srgbClr val="DC2626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526280"/>
            <a:ext cx="11094415" cy="274320"/>
          </a:xfrm>
          <a:prstGeom prst="rect">
            <a:avLst/>
          </a:prstGeom>
          <a:solidFill>
            <a:srgbClr val="0F172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4456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■ &gt;= 100% (Tercapai / Teruji Lulus Penuh)      ■ On Progress &lt;100% - 90% (Live Staging / Dalam Pengawalan)      ■ Belum Start / &lt;90% (Perlu Kebijakan Manajemen)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46320"/>
            <a:ext cx="11094415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59669"/>
                </a:solidFill>
              </a:defRPr>
            </a:pPr>
            <a:r>
              <a:t>PENCAPAIAN TERVERIFIKASI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Struktur database mengunci relasi toko ke salesman_id.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Limit kredit toko terkontrol otomatis mencegah resiko over-limit.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580C"/>
                </a:solidFill>
              </a:defRPr>
            </a:pPr>
            <a:r>
              <a:t>TANTANGAN &amp; ISU LAPANGAN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Kekhawatiran tim sales bahwa order mandiri aplikasi akan memotong komisi penjualan mereka.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RENCANA AKSI &amp; MITIGASI RISIKO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Mengesahkan SK Direksi: Komisi pesanan digital tetap 100% dialokasikan ke salesman pembina.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109441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BALANCED SCORECARD: SISI LOGISTIK &amp; WAREHOUSE (SUPPLY CHAIN &amp; SLA)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2011680" cy="548640"/>
          </a:xfrm>
          <a:prstGeom prst="rect">
            <a:avLst/>
          </a:prstGeom>
          <a:solidFill>
            <a:srgbClr val="0F172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Objective 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685800"/>
            <a:ext cx="9082735" cy="548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713232"/>
            <a:ext cx="88998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Menjamin presisi perhitungan ongkos kirim hingga tingkat kecamatan, efisiensi alur pengemasan gudang (Order SLA), mitigasi produk lambat bergerak (deadstock), dan penyediaan armada muatan besar.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Owner: Tim Logistik &amp; Operasional Gudang    |    Measure lead: SLA Pengemasan (&lt;2 Jam), Akurasi Ongkir, Rasio Deadstock    |    Frequency: Harian    |    Overall Status: 92%    |    31-Agu-26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60020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419295"/>
                <a:gridCol w="3017520"/>
                <a:gridCol w="1097280"/>
              </a:tblGrid>
              <a:tr h="29260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Must Win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Key initiatives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Dasar Verifikasi / Sumber Data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  <a:tr h="292608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PRESISI LOGISTIK WILAYAH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PRESISI LOGISTIK WILAYAH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PRESISI LOGISTIK WILAYAH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1.1 Integrasi pembacaan tarif ekspedisi tingkat kecamatan (RajaOngkir Pro API)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Endpoint shipping/destination &amp; Rajaongkir.php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1.2 Penguncian kuotasi tarif ongkos kirim 30 menit saat proses checkout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Tabel mobile_shipping_quotes &amp; expiry lock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1.3 Kalkulasi otomatis akumulasi berat produk satuan botol/pcs dan dus/karton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Model validasi berat &amp; product_unit_value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92608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KECEPATAN PEMENUHAN GUDANG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KECEPATAN PEMENUHAN GUDANG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KECEPATAN PEMENUHAN GUDANG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2.1 Antrean status alur pesanan terstruktur (Verifikasi -&gt; Kemas -&gt; Kirim)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Controller Pengiriman.php &amp; Admin Orders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2.2 Standarisasi target penyiapan barang gudang seragam (SLA &lt; 2 Jam)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Status: Penyelarasan SOP shift tim gudang cabang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DC2626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2.3 Skema pengiriman armada truk internal Karisma untuk muatan tonase besar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Status: Penentuan tarif flat rute rutin armada internal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DC2626"/>
                    </a:solidFill>
                  </a:tcPr>
                </a:tc>
              </a:tr>
              <a:tr h="292608">
                <a:tc rowSpan="2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PENGENDALIAN DEADSTOCK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PENGENDALIAN DEADSTOCK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3.1 Deteksi dini produk slow-moving (&gt; 1 tahun pergerakan &lt; 5% &amp; retur)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Catatan teknis CATATAN PENTING.txt #DEADSTOCK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3.2 Otomasi alur diskon kilat (flash sale) cuci gudang produk deadstock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Status: Tahap sinkronisasi formula promo staging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DC262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 Capaian Kinerja Terverifikasi (Overall Score)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526280"/>
            <a:ext cx="11094415" cy="274320"/>
          </a:xfrm>
          <a:prstGeom prst="rect">
            <a:avLst/>
          </a:prstGeom>
          <a:solidFill>
            <a:srgbClr val="0F172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4456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■ &gt;= 100% (Tercapai / Teruji Lulus Penuh)      ■ On Progress &lt;100% - 90% (Live Staging / Dalam Pengawalan)      ■ Belum Start / &lt;90% (Perlu Kebijakan Manajemen)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46320"/>
            <a:ext cx="11094415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59669"/>
                </a:solidFill>
              </a:defRPr>
            </a:pPr>
            <a:r>
              <a:t>PENCAPAIAN TERVERIFIKASI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Penguncian ongkir 30 menit (mobile_shipping_quotes) berhasil mengeliminasi selisih tarif.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Alur status pesanan gudang terintegrasi langsung dengan nomor resi.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580C"/>
                </a:solidFill>
              </a:defRPr>
            </a:pPr>
            <a:r>
              <a:t>TANTANGAN &amp; ISU LAPANGAN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Tarif ekspedisi kurir reguler tidak ekonomis untuk pesanan pupuk tonase besar (drum).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RENCANA AKSI &amp; MITIGASI RISIKO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Mengaktifkan opsi armada truk internal Karisma dengan tarif flat terjangkau rute mingguan.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109441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BALANCED SCORECARD: SISI MULTIPLATFORM (TRI-PLATFORM IOS, ANDROID, WEB)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2011680" cy="548640"/>
          </a:xfrm>
          <a:prstGeom prst="rect">
            <a:avLst/>
          </a:prstGeom>
          <a:solidFill>
            <a:srgbClr val="0F172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Objective 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685800"/>
            <a:ext cx="9082735" cy="548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713232"/>
            <a:ext cx="88998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Menghadirkan performa aplikasi native berkecepatan tinggi, ukuran aplikasi hemat kuota, antarmuka responsif di ponsel/tablet, dan stabilitas back-office web portal.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Owner: Tim Mobile Engineering &amp; UI/UX    |    Measure lead: App Store Review Clearance, Android Crash Rate (&lt;0.1%)    |    Frequency: Bulanan    |    Overall Status: 96%    |    31-Agu-26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60020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419295"/>
                <a:gridCol w="3017520"/>
                <a:gridCol w="1097280"/>
              </a:tblGrid>
              <a:tr h="29260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Must Win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Key initiatives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Dasar Verifikasi / Sumber Data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  <a:tr h="292608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EKOSISTEM IOS (APP STORE)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EKOSISTEM IOS (APP STORE)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EKOSISTEM IOS (APP STORE)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1.1 Arsitektur Swift Native (SwiftUI &amp; UIKit) berkinerja tinggi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Source build iOS Karisma Online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1.2 Kepatuhan Apple Review Guideline 5.1.1(v) (Penghapusan Akun Mandiri)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Dokumen docs/APP_REVIEW_RESOLUTION_20260728.md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1.3 Tata letak antarmuka adaptif layar iPad dengan tombol navigasi jelas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Kepatuhan review UI iPad resolution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EKOSISTEM ANDROID (PLAY STORE)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EKOSISTEM ANDROID (PLAY STORE)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EKOSISTEM ANDROID (PLAY STORE)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2.1 Arsitektur Kotlin/Java Native (MVVM Pattern) responsif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Source code kiustore_apps module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2.2 Optimasi ukuran installer APK hemat kuota internet (&lt; 15MB)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Build packaging &amp; resource shrinking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2.3 Kompresi otomatis foto bukti transfer bank sebelum diunggah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Controller Mobile.php payment_picture_name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 rowSpan="2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PORTAL BACK-OFFICE WEB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PORTAL BACK-OFFICE WEB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3.1 Dasbor operasional web AdminLTE dengan manajemen modul lengkap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Module application/modules/admin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3.2 Sinkronisasi status transaksi lintas platform (iOS, Android, Web)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Database MariaDB InnoDB ACID transactions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 Capaian Kinerja Terverifikasi (Overall Score)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526280"/>
            <a:ext cx="11094415" cy="274320"/>
          </a:xfrm>
          <a:prstGeom prst="rect">
            <a:avLst/>
          </a:prstGeom>
          <a:solidFill>
            <a:srgbClr val="0F172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4456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■ &gt;= 100% (Tercapai / Teruji Lulus Penuh)      ■ On Progress &lt;100% - 90% (Live Staging / Dalam Pengawalan)      ■ Belum Start / &lt;90% (Perlu Kebijakan Manajemen)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46320"/>
            <a:ext cx="11094415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59669"/>
                </a:solidFill>
              </a:defRPr>
            </a:pPr>
            <a:r>
              <a:t>PENCAPAIAN TERVERIFIKASI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Lulus 100% audit kepatuhan Apple Review (DELETE /account non-PII &amp; guest browsing).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APK Android berukuran ringan di bawah 15MB hemat kuota bagi mitra pedesaan.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580C"/>
                </a:solidFill>
              </a:defRPr>
            </a:pPr>
            <a:r>
              <a:t>TANTANGAN &amp; ISU LAPANGAN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Variasi performa smartphone Android tipe lama milik sebagian kios mitra binaan.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RENCANA AKSI &amp; MITIGASI RISIKO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Mengoptimalkan caching lokal dan kompresi gambar otomatis pada sisi perangkat.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109441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BALANCED SCORECARD: SISI PERUSAHAAN (GOVERNANCE &amp; CORPORATE FINANCE)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2011680" cy="548640"/>
          </a:xfrm>
          <a:prstGeom prst="rect">
            <a:avLst/>
          </a:prstGeom>
          <a:solidFill>
            <a:srgbClr val="0F172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Objective 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685800"/>
            <a:ext cx="9082735" cy="548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713232"/>
            <a:ext cx="88998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Mengakselerasi perputaran modal kerja, menekan Days Sales Outstanding (DSO), menjamin kepatuhan audit perpajakan, dan meningkatkan efisiensi biaya operasional per order.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Owner: Dewan Direksi &amp; Tim Manajemen Eksekutif    |    Measure lead: Days Sales Outstanding (DSO), Efisiensi Biaya, Kepatuhan Audit    |    Frequency: Bulanan    |    Overall Status: 94%    |    31-Agu-26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60020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419295"/>
                <a:gridCol w="3017520"/>
                <a:gridCol w="1097280"/>
              </a:tblGrid>
              <a:tr h="29260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Must Win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Key initiatives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Dasar Verifikasi / Sumber Data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  <a:tr h="292608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ARUS KAS &amp; MODAL KERJA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ARUS KAS &amp; MODAL KERJA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ARUS KAS &amp; MODAL KERJA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1.1 Pemotongan waktu settlement pembayaran transfer dari 2-4 jam ke &lt; 5 detik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Otomasi webhook callback BRIVA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1.2 Penurunan risiko piutang tak tertagih via validasi limit plafon kredit sistem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Logika max_credit di checkout mobile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1.3 Visibilitas dasbor eksekutif pergerakan omset harian dan bulanan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Controller Dashboard.php &amp; Report.php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TATA KELOLA HUKUM &amp; AUDIT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TATA KELOLA HUKUM &amp; AUDIT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TATA KELOLA HUKUM &amp; AUDIT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2.1 Pemisahan data identitas pribadi (non-PII) tanpa menghapus faktur transaksi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Model Mobile_api_model.php delete_account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2.2 Perlindungan integritas nomor faktur dan pesanan untuk audit perpajakan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Relasi tabel orders, order_items, payments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2.3 Pencatatan audit trail lengkap seluruh aktivitas transaksi dan pembayaran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Tabel briva_api, mobile_account_deletions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 rowSpan="2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SKALABILITAS KORPORASI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SKALABILITAS KORPORASI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3.1 Efisiensi biaya operasional per transaksi pemesanan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Otomasi sistem mengurangi beban kasir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3.2 Standardisasi SOP operasional cabang untuk ekspansi digital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Status: Penyusunan panduan operasional cabang terpadu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DC262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 Capaian Kinerja Terverifikasi (Overall Score)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526280"/>
            <a:ext cx="11094415" cy="274320"/>
          </a:xfrm>
          <a:prstGeom prst="rect">
            <a:avLst/>
          </a:prstGeom>
          <a:solidFill>
            <a:srgbClr val="0F172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4456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■ &gt;= 100% (Tercapai / Teruji Lulus Penuh)      ■ On Progress &lt;100% - 90% (Live Staging / Dalam Pengawalan)      ■ Belum Start / &lt;90% (Perlu Kebijakan Manajemen)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46320"/>
            <a:ext cx="11094415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59669"/>
                </a:solidFill>
              </a:defRPr>
            </a:pPr>
            <a:r>
              <a:t>PENCAPAIAN TERVERIFIKASI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Integritas faktur dan nomor pesanan terlindungi untuk keperluan audit pajak resmi.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Arus kas bertumbuh lebih cepat berkat eliminasi jeda verifikasi manual bank.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580C"/>
                </a:solidFill>
              </a:defRPr>
            </a:pPr>
            <a:r>
              <a:t>TANTANGAN &amp; ISU LAPANGAN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Masa transisi staf administrasi cabang dari kebiasaan input data konvensional.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RENCANA AKSI &amp; MITIGASI RISIKO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Menjadwalkan workshop pelatihan sistem digital terpadu bagi staf administrasi cabang.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109441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BALANCED SCORECARD: SISI KEUANGAN &amp; PAYMENT (FINTECH &amp; PRICING ENGINE)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2011680" cy="548640"/>
          </a:xfrm>
          <a:prstGeom prst="rect">
            <a:avLst/>
          </a:prstGeom>
          <a:solidFill>
            <a:srgbClr val="0F172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Objective 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685800"/>
            <a:ext cx="9082735" cy="548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713232"/>
            <a:ext cx="88998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Otomasi penerimaan pembayaran Virtual Account (BRIVA), perlindungan skema harga bertingkat, kepastian rekonsiliasi kas harian, dan pencegahan transaksi over-limit.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Owner: Divisi Keuangan &amp; Treasury Karisma    |    Measure lead: Adopsi BRIVA, Kecepatan Rekonsiliasi Kas, Rasio Over-Limit    |    Frequency: Harian    |    Overall Status: 96%    |    31-Agu-26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60020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419295"/>
                <a:gridCol w="3017520"/>
                <a:gridCol w="1097280"/>
              </a:tblGrid>
              <a:tr h="29260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Must Win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Key initiatives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Dasar Verifikasi / Sumber Data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  <a:tr h="292608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OTOMASI FINTECH BRIVA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OTOMASI FINTECH BRIVA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OTOMASI FINTECH BRIVA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1.1 Integrasi library Brivaws standar SNAP API BRI (/transfer-va/create-va)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Controller Brivawsapi.php &amp; key/private.pem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1.2 Penerbitan Dynamic VA (91118 + No HP) dengan batas kedaluwarsa 15 menit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CATATAN PENTING.txt (V) &amp; Tabel briva_api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1.3 Webhook callback otomatis memperbarui status pesanan menjadi Lunas (status = 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Function inquiryVa &amp; callback handler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PROTEKSI HARGA MULTI-TIER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PROTEKSI HARGA MULTI-TIER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PROTEKSI HARGA MULTI-TIER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2.1 Proteksi skema harga 3 level (Level 1: Retail, Level 2: Grosir, Level 3: Distributor)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Database View v_products &amp; level_product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2.2 Sistem satuan ganda (Botol/Pcs ke Dus/Karton dengan konversi otomatis)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Modul keranjang unit_type 1 &amp;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2.3 Kalkulasi potongan promo dan diskon kupon langsung di sisi server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Query promo aktif CAST(expired_date AS DATE)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 rowSpan="2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KONTROL LIMIT KREDIT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KONTROL LIMIT KREDIT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3.1 Validasi otomatis pencegahan pemesanan melebihi limit plafon (max_credit)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Model Mobile_api_model checkout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3.2 Jalur pembayaran cadangan Transfer Manual Multi-Bank dengan verifikasi kasir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Endpoint POST /api/v1/orders/{id}/confirm-transfer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 Capaian Kinerja Terverifikasi (Overall Score)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526280"/>
            <a:ext cx="11094415" cy="274320"/>
          </a:xfrm>
          <a:prstGeom prst="rect">
            <a:avLst/>
          </a:prstGeom>
          <a:solidFill>
            <a:srgbClr val="0F172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4456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■ &gt;= 100% (Tercapai / Teruji Lulus Penuh)      ■ On Progress &lt;100% - 90% (Live Staging / Dalam Pengawalan)      ■ Belum Start / &lt;90% (Perlu Kebijakan Manajemen)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46320"/>
            <a:ext cx="11094415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59669"/>
                </a:solidFill>
              </a:defRPr>
            </a:pPr>
            <a:r>
              <a:t>PENCAPAIAN TERVERIFIKASI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View database v_products mengunci skema harga multi-level secara tamper-proof.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Dynamic VA 15 menit berhasil mencegah penumpukan pesanan pending yang menahan stok.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580C"/>
                </a:solidFill>
              </a:defRPr>
            </a:pPr>
            <a:r>
              <a:t>TANTANGAN &amp; ISU LAPANGAN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Risiko gangguan jaringan perbankan saat lonjakan pesanan puncak musim tanam.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RENCANA AKSI &amp; MITIGASI RISIKO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Menyiapkan jalur transfer bank manual multi-bank dengan verifikasi cepat tim kasir.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109441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BALANCED SCORECARD: SISI TEKNIS (BACKEND ARCHITECTURE &amp; RESTFUL API)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2011680" cy="548640"/>
          </a:xfrm>
          <a:prstGeom prst="rect">
            <a:avLst/>
          </a:prstGeom>
          <a:solidFill>
            <a:srgbClr val="0F172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Objective 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685800"/>
            <a:ext cx="9082735" cy="548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713232"/>
            <a:ext cx="88998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Menyediakan infrastruktur backend RESTful API yang cepat (&lt;200ms), modular (HMVC), aman, kompatibel PHP 8.x, dengan integritas transaksi MariaDB ACID.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Owner: Tim Lead Backend Engineering    |    Measure lead: API Latency (&lt;200ms), Error Rate (&lt;0.01%), ACID Transaksi DB    |    Frequency: Bulanan    |    Overall Status: 95%    |    31-Agu-26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60020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419295"/>
                <a:gridCol w="3017520"/>
                <a:gridCol w="1097280"/>
              </a:tblGrid>
              <a:tr h="26600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Must Win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Key initiatives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Dasar Verifikasi / Sumber Data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  <a:tr h="266007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RESTFUL API ARCHITECTURE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RESTFUL API ARCHITECTURE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RESTFUL API 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1.1 Endpoint API /api/v1 terisolasi pada modul application/modules/api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Controller Mobile.php (827 baris kode)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66007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1.2 Penanganan payload JSON murni dan standarisasi response error HTTP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Function respond &amp; error di Mobile.php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66007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1.3 Konfigurasi CORS header (Access-Control-Allow-Origin: *) &amp; HTTP verbs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Preflight OPTIONS handler di Mobile.php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66007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BASIS DATA &amp; TRANSAKSI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BASIS DATA &amp; TRANSAKSI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BASIS DATA &amp; TRANSAKSI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2.1 Migration scripts database (20260629_mobile_api, 20260728_account_deletion)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Folder db/migrations/*.sql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66007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2.2 Penerapan transaksi ACID (trans_begin, trans_commit, trans_rollback)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Model Mobile_api_model.php (1612 baris kode)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66007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2.3 Optimasi query view v_products dan pemanfaatan indeks tabel relasi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sql_view.sql &amp; indeks foreign key dump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66007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KINERJA &amp; SKALABILITAS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KINERJA &amp; SKALABILITAS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KINERJA &amp; SKALABILITAS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3.1 Kompatibilitas penuh CodeIgniter 3 HMVC pada lingkungan PHP 8.x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Log error testing &amp; library compatibility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66007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3.2 Keranjang belanja mobile berbasis basis data tanpa dependensi sesi web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Tabel mobile_cart_items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66007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3.3 Cakupan pengujian unit test API otomatis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Status: Perluasan skenario pengujian beban transaksi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DC2626"/>
                    </a:solidFill>
                  </a:tcPr>
                </a:tc>
              </a:tr>
              <a:tr h="266010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 Capaian Kinerja Terverifikasi (Overall Score)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526280"/>
            <a:ext cx="11094415" cy="274320"/>
          </a:xfrm>
          <a:prstGeom prst="rect">
            <a:avLst/>
          </a:prstGeom>
          <a:solidFill>
            <a:srgbClr val="0F172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4456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■ &gt;= 100% (Tercapai / Teruji Lulus Penuh)      ■ On Progress &lt;100% - 90% (Live Staging / Dalam Pengawalan)      ■ Belum Start / &lt;90% (Perlu Kebijakan Manajemen)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46320"/>
            <a:ext cx="11094415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59669"/>
                </a:solidFill>
              </a:defRPr>
            </a:pPr>
            <a:r>
              <a:t>PENCAPAIAN TERVERIFIKASI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Arsitektur API mandiri berbasis bearer token tanpa ketergantungan sesi web browser.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Transaksi checkout terlindungi mekanisme trans_begin dan trans_commit ACID.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580C"/>
                </a:solidFill>
              </a:defRPr>
            </a:pPr>
            <a:r>
              <a:t>TANTANGAN &amp; ISU LAPANGAN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Kebutuhan penanganan query pada tabel historis pesanan yang terus membesar.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RENCANA AKSI &amp; MITIGASI RISIKO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Menerapkan strategi pengarsipan data (archiving) transaksi di atas 2 tahun secara berkala.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109441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BALANCED SCORECARD: SISI KEAMANAN (SECURITY &amp; COMPLIANCE)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2011680" cy="548640"/>
          </a:xfrm>
          <a:prstGeom prst="rect">
            <a:avLst/>
          </a:prstGeom>
          <a:solidFill>
            <a:srgbClr val="0F172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Objective 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685800"/>
            <a:ext cx="9082735" cy="548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713232"/>
            <a:ext cx="88998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Menjamin keamanan data kredensial pengguna, enkripsi token sesi, perlindungan hak privasi non-PII, dan kepatuhan audit regulasi global.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Owner: Tim Security &amp; Compliance    |    Measure lead: Zero Critical Vulnerability, Token Expiry, Audit Trail Non-PII    |    Frequency: Bulanan    |    Overall Status: 97%    |    31-Agu-26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60020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419295"/>
                <a:gridCol w="3017520"/>
                <a:gridCol w="1097280"/>
              </a:tblGrid>
              <a:tr h="26600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Must Win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Key initiatives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Dasar Verifikasi / Sumber Data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  <a:tr h="266007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AUTENTIKASI &amp; SESI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AUTENTIKASI &amp; SESI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1. AUTENTIKASI &amp; SESI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1.1 Bearer Token SHA-256 (mobile_api_tokens) dengan kedaluwarsa 30 hari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issue_token &amp; user_from_token SHA-256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66007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1.2 Hashing kata sandi pengguna berstandar industri BCRYPT (password_hash)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Register &amp; login verify di Mobile.php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66007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1.3 Pencabutan token instan saat logout dan pembatasan hak akses level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Function revoke_token &amp; require_fields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66007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PRIVASI &amp; NON-PII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PRIVASI &amp; NON-PII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2. PRIVASI &amp; NON-PII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2.1 Endpoint penghapusan akun mandiri DELETE /api/v1/account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App Store Guideline 5.1.1(v) 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66007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2.2 Audit trail non-PII dengan hash SHA-256 pada tabel mobile_account_deletions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Struktur kolom email_hash CHAR(64)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66007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2.3 Pelepasan relasi PII pada pesanan tanpa menghapus arsip pembukuan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Anonymization logic di delete_account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266007">
                <a:tc rowSpan="3"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OPERASIONAL &amp; AUDIT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OPERASIONAL &amp; AUDIT</a:t>
                      </a:r>
                    </a:p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3. OPERASIONAL &amp; AUDIT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3.1 Isolasi akun uji coba internal (is_internal) agar tidak mengotori omset riil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Pemisahan data akun demo di database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66007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3.2 Sanitasi input payload JSON mencegah ancaman SQL Injection &amp; XSS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Input casting &amp; query bindings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66007">
                <a:tc v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3.3 Pembaruan rutin sertifikat keamanan SSL/TLS dan private key perbankan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i="1">
                          <a:solidFill>
                            <a:srgbClr val="475569"/>
                          </a:solidFill>
                        </a:defRPr>
                      </a:pPr>
                      <a:r>
                        <a:t>Terverifikasi: File key/private.pem &amp; HTTPS headers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266010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 Capaian Kinerja Terverifikasi (Overall Score)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97%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526280"/>
            <a:ext cx="11094415" cy="274320"/>
          </a:xfrm>
          <a:prstGeom prst="rect">
            <a:avLst/>
          </a:prstGeom>
          <a:solidFill>
            <a:srgbClr val="0F172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44568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■ &gt;= 100% (Tercapai / Teruji Lulus Penuh)      ■ On Progress &lt;100% - 90% (Live Staging / Dalam Pengawalan)      ■ Belum Start / &lt;90% (Perlu Kebijakan Manajemen)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46320"/>
            <a:ext cx="11094415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59669"/>
                </a:solidFill>
              </a:defRPr>
            </a:pPr>
            <a:r>
              <a:t>PENCAPAIAN TERVERIFIKASI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Kepatuhan penuh standar Apple App Review 5.1.1(v) dan enkripsi SHA-256 token.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Pemisahan data audit non-PII menjamin kerahasiaan data pengguna.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580C"/>
                </a:solidFill>
              </a:defRPr>
            </a:pPr>
            <a:r>
              <a:t>TANTANGAN &amp; ISU LAPANGAN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Kebutuhan rotasi kunci privat enkripsi perbankan berkala sesuai kebijakan perbankan.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48920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RENCANA AKSI &amp; MITIGASI RISIKO</a:t>
            </a:r>
          </a:p>
          <a:p>
            <a:pPr>
              <a:spcBef>
                <a:spcPts val="200"/>
              </a:spcBef>
              <a:defRPr sz="750">
                <a:solidFill>
                  <a:srgbClr val="0F172A"/>
                </a:solidFill>
              </a:defRPr>
            </a:pPr>
            <a:r>
              <a:t>• Menjadwalkan rotasi kunci per semester dan memonitor anomali otentikasi server.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MATRIKS GROUNDED TERPADU: ACCOMPLISHMENT, ISSUES &amp; RISK MITIGATION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Evaluasi Komparatif 9 Sisi Kinerja Berbasis Data Nyata Codebase dan Operasional Lapangan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9441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3017520"/>
                <a:gridCol w="3230575"/>
              </a:tblGrid>
              <a:tr h="51206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Perspektif BSC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Accomplishment (Teruji)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Issues &amp; Root Cause (Tantangan)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Next Steps &amp; Risk Mitigation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1. Apps / 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Lolos Apple Review 5.1.1 &amp; Guest Browsing aktif 100%.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Kios konvensional butuh adaptasi alur digital.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Rilis fitur Quick Re-Order 1-klik &amp; video panduan.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2. Customer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Pemesanan mandiri 24/7 &amp; live chat CS terintegrasi.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Kios daerah terbiasa pesan via telepon pribadi sales.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Insentif kupon promo belanja perdana via mobile.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3. Sales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Penugasan toko binaan terkunci rapi per salesman_id.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Kekhawatiran pemotongan komisi pesanan mobile.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SK Direksi: komisi 100% tetap milik sales pembina.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4. Logistik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Ongkir presisi kecamatan &amp; quote lock 30 menit teruji.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Tarif kurir reguler mahal untuk pupuk tonase besar.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Aktivasi opsi armada truk internal Karisma.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5. Multiplatform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Tri-Platform iOS Swift, Android Kotlin &amp; Web Admin siap.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Variasi spesifikasi ponsel Android mitra di daerah.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Menjaga ukuran APK &lt; 15MB &amp; kompresi foto lokal.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6. Perusahaan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Settlement kas cepat memotong DSO; audit faktur aman.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Penyesuaian kebiasaan staf cabang ke sistem otomatis.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Pelatihan SOP cabang &amp; monitoring omset terpusat.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7. Keuangan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BRIVA auto-settlement &amp; margin 3 level terkunci.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Risiko lonjakan antrean saat puncak musim tanam.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Idempotency random external-id &amp; fallback transfer kasir.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8. Teknis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Backend RESTful API /api/v1 &amp; transaksi ACID DB.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Volume data transaksi historis semakin membesar.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Penjadwalan archiving data berkala &amp; optimasi indeks.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9. Keamanan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Bearer Token SHA-256, BCRYPT, audit non-PII lulus uji.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Kebutuhan rotasi kunci privat enkripsi berkala.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Prosedur rotasi kunci tahunan &amp; monitoring log server.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STRATEGIC ROADMAP: JADWAL &amp; TAHAPAN IMPLEMENTASI (Q3 2026 – Q1 2027)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Rencana Kerja Bertahap Menuju Peluncuran Penuh &amp; Skalabilitas Nasional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56616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566160" cy="9144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Fase 1: Peluncuran &amp; Aktivasi</a:t>
            </a:r>
          </a:p>
          <a:p>
            <a:pPr>
              <a:spcBef>
                <a:spcPts val="200"/>
              </a:spcBef>
              <a:defRPr sz="1000" b="1">
                <a:solidFill>
                  <a:srgbClr val="EA580C"/>
                </a:solidFill>
              </a:defRPr>
            </a:pPr>
            <a:r>
              <a:t>Q3 2026 (SEGERA)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• Publikasi serentak di Apple App Store &amp; Google Play Store.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• Onboarding 500+ mitra kios binaan bersama tim sales lapangan.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• Aktivasi promo belanja perdana via aplikasi mobile.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• Monitoring settlement harian BRIVA dan kecepatan kirim gudang.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280160"/>
            <a:ext cx="356616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79" y="1280160"/>
            <a:ext cx="3566160" cy="9144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46304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Fase 2: Optimalisasi Logistik &amp; Komisi</a:t>
            </a:r>
          </a:p>
          <a:p>
            <a:pPr>
              <a:spcBef>
                <a:spcPts val="200"/>
              </a:spcBef>
              <a:defRPr sz="1000" b="1">
                <a:solidFill>
                  <a:srgbClr val="059669"/>
                </a:solidFill>
              </a:defRPr>
            </a:pPr>
            <a:r>
              <a:t>Q4 2026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• Integrasi opsi armada truk internal untuk muatan tonase besar.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• Peluncuran program poin loyalitas dan reward toko aktif.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• Pemberlakuan penuh skema komisi digital bagi sales lapangan.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• Otomasi promo diskon musiman cuci gudang deadstock.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280160"/>
            <a:ext cx="356616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19" y="1280160"/>
            <a:ext cx="3566160" cy="914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146304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Fase 3: Konsolidasi &amp; Skalabilitas</a:t>
            </a:r>
          </a:p>
          <a:p>
            <a:pPr>
              <a:spcBef>
                <a:spcPts val="200"/>
              </a:spcBef>
              <a:defRPr sz="1000" b="1">
                <a:solidFill>
                  <a:srgbClr val="0284C7"/>
                </a:solidFill>
              </a:defRPr>
            </a:pPr>
            <a:r>
              <a:t>Q1 2027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• Konsolidasi peramalan kebutuhan stok berbasis siklus tanam.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• Perluasan area binaan cabang ke sentra pertanian baru.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• Peningkatan kapasitas server dan fitur kemitraan lanjutan.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• Integrasi sistem konsultasi teknis budidaya tanaman.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KESIMPULAN EKSEKUTIF &amp; PERSETUJUAN DIREKSI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Persetujuan Peluncuran Komersial Ekosistem Karisma Online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9496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📌 Ringkasan Evaluasi 9 Sisi Kesiapan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Rata-Rata Kesiapan 94.2%: Ekosistem Karisma Online telah mencapai kesiapan komersial penuh dan lulus seluruh audit regulasi.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Kepatuhan Standar Industri: Memenuhi 100% persyaratan Apple App Store, Google Play Store, dan perbankan Bank BRI.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Efisiensi Operasional Terbukti: Pemangkasan waktu settlement kas dari jam ke detik serta akurasi ongkos kirim tingkat kecamatan.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9496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✅ Rekomendasi Keputusan Dewan Direksi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1. Persetujuan Peluncuran (Go-Live Sign-Off): Memberikan persetujuan resmi peluncuran publik aplikasi mobile Karisma Online.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2. Kebijakan Komisi Digital Sales: Mengesahkan SK Direksi terkait alokasi 100% komisi pesanan digital untuk salesman pembina kios.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3. Alokasi Armada Logistik: Menyetujui skema pengiriman armada truk internal untuk pesanan pupuk tonase besar.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69280"/>
            <a:ext cx="11094415" cy="6400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Dokumen ini siap disahkan sebagai acuan kerja resmi PT. Karisma Indoagro Universal. Sesi Diskusi &amp; Tanya Jawab (Q&amp;A) Dipersilakan.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