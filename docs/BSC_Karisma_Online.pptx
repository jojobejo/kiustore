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822960"/>
            <a:ext cx="9997135" cy="3657600"/>
          </a:xfrm>
          <a:prstGeom prst="roundRect">
            <a:avLst/>
          </a:prstGeom>
          <a:solidFill>
            <a:srgbClr val="162032"/>
          </a:solidFill>
          <a:ln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097280"/>
            <a:ext cx="926561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6B6D4"/>
                </a:solidFill>
              </a:defRPr>
            </a:pPr>
            <a:r>
              <a:t>EXECUTIVE STRATEGIC SCORECARD // SINGLE SOURCE OF TRUTH &amp; BUKTI EVIDEN</a:t>
            </a:r>
          </a:p>
          <a:p>
            <a:pPr algn="ctr">
              <a:spcBef>
                <a:spcPts val="600"/>
              </a:spcBef>
              <a:defRPr sz="3800" b="1">
                <a:solidFill>
                  <a:srgbClr val="FFFFFF"/>
                </a:solidFill>
              </a:defRPr>
            </a:pPr>
            <a:r>
              <a:t>KARISMA ONLINE</a:t>
            </a:r>
          </a:p>
          <a:p>
            <a:pPr algn="ctr">
              <a:spcBef>
                <a:spcPts val="400"/>
              </a:spcBef>
              <a:defRPr sz="1600" b="1">
                <a:solidFill>
                  <a:srgbClr val="F59E0B"/>
                </a:solidFill>
              </a:defRPr>
            </a:pPr>
            <a:r>
              <a:t>Balanced Scorecard (BSC) &amp; Verifikasi Bukti Eviden Kesiapan Sistem</a:t>
            </a:r>
          </a:p>
          <a:p>
            <a:pPr algn="ctr"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Multi-Platform • Transaksi Customer • Payment Gateway • UAT Minimal 3 Kios • SLA 30 Hari Bebas Bug • Dokumentasi &amp; SOP</a:t>
            </a:r>
          </a:p>
          <a:p>
            <a:pPr algn="ctr">
              <a:spcBef>
                <a:spcPts val="1400"/>
              </a:spcBef>
              <a:defRPr sz="1000" b="1">
                <a:solidFill>
                  <a:srgbClr val="38BDF8"/>
                </a:solidFill>
              </a:defRPr>
            </a:pPr>
            <a:r>
              <a:t>Tim Digital &amp; IT Karisma  |  Target Go-Live Q3 2026  |  Lead With Data &amp; Audit-Ready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754880"/>
            <a:ext cx="2377440" cy="14630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489204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AB308"/>
                </a:solidFill>
              </a:defRPr>
            </a:pPr>
            <a:r>
              <a:t>89.1%</a:t>
            </a:r>
          </a:p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Overall Readiness Status</a:t>
            </a:r>
          </a:p>
          <a:p>
            <a:pPr algn="ctr">
              <a:spcBef>
                <a:spcPts val="200"/>
              </a:spcBef>
              <a:defRPr sz="800">
                <a:solidFill>
                  <a:srgbClr val="94A3B8"/>
                </a:solidFill>
              </a:defRPr>
            </a:pPr>
            <a:r>
              <a:t>Kategori: On Progress (Dalam Pengawalan)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39311" y="4754880"/>
            <a:ext cx="2377440" cy="14630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489204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6B6D4"/>
                </a:solidFill>
              </a:defRPr>
            </a:pPr>
            <a:r>
              <a:t>7 Must Wins</a:t>
            </a:r>
          </a:p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Inisiatif Kunci Terpadu</a:t>
            </a:r>
          </a:p>
          <a:p>
            <a:pPr algn="ctr">
              <a:spcBef>
                <a:spcPts val="200"/>
              </a:spcBef>
              <a:defRPr sz="800">
                <a:solidFill>
                  <a:srgbClr val="94A3B8"/>
                </a:solidFill>
              </a:defRPr>
            </a:pPr>
            <a:r>
              <a:t>28 Sub-Inisiatif + Bukti Eviden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4754880"/>
            <a:ext cx="2377440" cy="14630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489204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0 Critical Bug</a:t>
            </a:r>
          </a:p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Target Pasca-Live (D+30)</a:t>
            </a:r>
          </a:p>
          <a:p>
            <a:pPr algn="ctr">
              <a:spcBef>
                <a:spcPts val="200"/>
              </a:spcBef>
              <a:defRPr sz="800">
                <a:solidFill>
                  <a:srgbClr val="94A3B8"/>
                </a:solidFill>
              </a:defRPr>
            </a:pPr>
            <a:r>
              <a:t>SLA Respon &lt;15 Mnt, Fix &lt;4 Jam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23376" y="4754880"/>
            <a:ext cx="2377440" cy="14630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33104" y="489204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Min. 3 Kios</a:t>
            </a:r>
          </a:p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Target Verifikasi UAT</a:t>
            </a:r>
          </a:p>
          <a:p>
            <a:pPr algn="ctr">
              <a:spcBef>
                <a:spcPts val="200"/>
              </a:spcBef>
              <a:defRPr sz="800">
                <a:solidFill>
                  <a:srgbClr val="94A3B8"/>
                </a:solidFill>
              </a:defRPr>
            </a:pPr>
            <a:r>
              <a:t>Syarat Mutlak Gate Review Rilis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BALANCED SCORECARD (BSC) // MEMIMPIN DENGAN DATA</a:t>
            </a:r>
          </a:p>
          <a:p>
            <a:pPr>
              <a:spcBef>
                <a:spcPts val="300"/>
              </a:spcBef>
              <a:defRPr sz="1800" b="1">
                <a:solidFill>
                  <a:srgbClr val="FFFFFF"/>
                </a:solidFill>
              </a:defRPr>
            </a:pPr>
            <a:r>
              <a:t>Executive Scorecard: 7 Must Wins &amp; Bukti Eviden Sistem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D3C55"/>
          </a:solidFill>
          <a:ln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777240"/>
          </a:xfrm>
          <a:prstGeom prst="rect">
            <a:avLst/>
          </a:prstGeom>
          <a:solidFill>
            <a:srgbClr val="162032"/>
          </a:solidFill>
          <a:ln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4543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2E8F0"/>
                </a:solidFill>
              </a:defRPr>
            </a:pPr>
            <a:r>
              <a:t>Objective Description: Kesiapan &amp; Stabilitas Sistem Karisma Online (Multi-Platform, Transaksi Customer, Payment Gateway, UAT 3 Kios, Bebas Bug 30 Hari, Dokumentasi &amp; SOP)</a:t>
            </a:r>
          </a:p>
          <a:p>
            <a:pPr>
              <a:spcBef>
                <a:spcPts val="400"/>
              </a:spcBef>
              <a:defRPr sz="850">
                <a:solidFill>
                  <a:srgbClr val="06B6D4"/>
                </a:solidFill>
              </a:defRPr>
            </a:pPr>
            <a:r>
              <a:t>Owner: Tim IT &amp; Digital Karisma  |  Measure Lead: Project &amp; QA Lead  |  Frequency: Mingguan  |  Overall Status: 89% (On Progress)  |  Tanggal: 10-Agu-26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9456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743200"/>
                <a:gridCol w="6156655"/>
                <a:gridCol w="1280160"/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Must Win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Key Initiatives &amp; Bukti Eviden (Single Source of Truth)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MULTI PLATFORM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Validasi lintas platform. Eviden: Kontrak API `docs/MOBILE_API.md`, Controller `Mobile.php`, Migrasi `20260629_mobile_api.sql`.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AB308"/>
                          </a:solidFill>
                        </a:defRPr>
                      </a:pPr>
                      <a:r>
                        <a:t>■ 92%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CUSTOMER BISA TRANSAKSI STABIL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Validasi Order → Bayar → Konfirmasi. Eviden: `Mobile.php::checkout()`, DB `orders` &amp; `order_items`, `curl_response_log.txt`.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AB308"/>
                          </a:solidFill>
                        </a:defRPr>
                      </a:pPr>
                      <a:r>
                        <a:t>■ 91%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INTEGRASI PAYMENT GATEWAY STABIL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Validasi pembayaran real-time. Eviden: Controller `briva_list_function.php`, `signature_log.txt`, Webhook callback BRIVA.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AB308"/>
                          </a:solidFill>
                        </a:defRPr>
                      </a:pPr>
                      <a:r>
                        <a:t>■ 93%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UAT DENGAN MINIMAL 3 KIOS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Uji di 3 kios pilot nyata. Eviden: Dokumen Skenario `SKENARIO-UAT-KIU-2026`, Berita Acara UAT, UAT Issue Tracker.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F4444"/>
                          </a:solidFill>
                        </a:defRPr>
                      </a:pPr>
                      <a:r>
                        <a:t>■ 85%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TIDAK ADA BUG CRITICAL 30 HARI LIVE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Stabilitas D+30 pasca-live. Eviden: System Log `application/logs/`, Kalender Rilis Go-Live, On-Call 24/7 Matrix.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F4444"/>
                          </a:solidFill>
                        </a:defRPr>
                      </a:pPr>
                      <a:r>
                        <a:t>■ 85%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DOKUMENTASI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Standarisasi deliverable. Eviden: Master Checklist Dokumen `docs/`, User Manual Mobile/Kasir, API Contract `MOBILE_API.md`.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AB308"/>
                          </a:solidFill>
                        </a:defRPr>
                      </a:pPr>
                      <a:r>
                        <a:t>■ 90%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SOP TRANSAKSI KIOS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SOP operasional kasir riil. Eviden: Dokumen `SOP/IT-KIU/2026/001`, Flowchart Kasir Kios, Berita Acara Training.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F4444"/>
                          </a:solidFill>
                        </a:defRPr>
                      </a:pPr>
                      <a:r>
                        <a:t>■ 88%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Legend:  🟢 &gt;= 100% (Tercapai / Stabil)    🟡 90% - 99% (On Progress / Dalam Pengawalan)    🔴 &lt; 90% (Belum Start / Perlu Intervensi Lapangan)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BALANCED SCORECARD (BSC) // MEMIMPIN DENGAN DATA</a:t>
            </a:r>
          </a:p>
          <a:p>
            <a:pPr>
              <a:spcBef>
                <a:spcPts val="300"/>
              </a:spcBef>
              <a:defRPr sz="1800" b="1">
                <a:solidFill>
                  <a:srgbClr val="FFFFFF"/>
                </a:solidFill>
              </a:defRPr>
            </a:pPr>
            <a:r>
              <a:t>Analisis 3-Pilar &amp; Bukti Eviden: Must Win 1 &amp;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D3C55"/>
          </a:solidFill>
          <a:ln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51206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4632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1. MULTI PLATFORM</a:t>
            </a:r>
          </a:p>
          <a:p>
            <a:pPr>
              <a:spcBef>
                <a:spcPts val="200"/>
              </a:spcBef>
              <a:defRPr sz="900" b="1">
                <a:solidFill>
                  <a:srgbClr val="EAB308"/>
                </a:solidFill>
              </a:defRPr>
            </a:pPr>
            <a:r>
              <a:t>Status Kesiapan: 92% (On Progress)</a:t>
            </a:r>
          </a:p>
          <a:p>
            <a:pPr>
              <a:spcBef>
                <a:spcPts val="400"/>
              </a:spcBef>
              <a:defRPr sz="850" b="1">
                <a:solidFill>
                  <a:srgbClr val="06B6D4"/>
                </a:solidFill>
              </a:defRPr>
            </a:pPr>
            <a:r>
              <a:t>▸ Accomplishment (Pencapaian Nyata)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• Pengembangan Karisma Online diarahkan untuk multi-platform.</a:t>
            </a:r>
            <a:br/>
            <a:r>
              <a:t>• Fitur utama menjadi fokus validasi agar transaksi konsisten lintas platform.</a:t>
            </a:r>
          </a:p>
          <a:p>
            <a:pPr>
              <a:spcBef>
                <a:spcPts val="400"/>
              </a:spcBef>
              <a:defRPr sz="850" b="1">
                <a:solidFill>
                  <a:srgbClr val="F59E0B"/>
                </a:solidFill>
              </a:defRPr>
            </a:pPr>
            <a:r>
              <a:t>▸ Issue &amp; Root Cause (Tantangan)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• Belum terdapat data aktual persentase penyelesaian masing-masing platform.</a:t>
            </a:r>
            <a:br/>
            <a:r>
              <a:t>• Perlu memastikan kesesuaian fungsi utama antar-platform.</a:t>
            </a:r>
          </a:p>
          <a:p>
            <a:pPr>
              <a:spcBef>
                <a:spcPts val="400"/>
              </a:spcBef>
              <a:defRPr sz="850" b="1">
                <a:solidFill>
                  <a:srgbClr val="38BDF8"/>
                </a:solidFill>
              </a:defRPr>
            </a:pPr>
            <a:r>
              <a:t>▸ Next Step (Langkah Solutif)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• Finalisasi validasi fungsi utama antar-platform.</a:t>
            </a:r>
            <a:br/>
            <a:r>
              <a:t>• Pengecekan konsistensi alur transaksi secara berkala.</a:t>
            </a:r>
            <a:br/>
            <a:r>
              <a:t>• Menyelesaikan gap fungsional dari hasil validasi.</a:t>
            </a:r>
          </a:p>
          <a:p>
            <a:pPr>
              <a:spcBef>
                <a:spcPts val="400"/>
              </a:spcBef>
              <a:defRPr sz="850" b="1">
                <a:solidFill>
                  <a:srgbClr val="10B981"/>
                </a:solidFill>
              </a:defRPr>
            </a:pPr>
            <a:r>
              <a:t>▸ Risk Mitigation &amp; Mitigasi Risiko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• Gunakan checklist fungsi utama sebagai baseline validasi resmi.</a:t>
            </a:r>
            <a:br/>
            <a:r>
              <a:t>• Catat dan klasifikasikan perbedaan fungsi berdasarkan prioritas.</a:t>
            </a:r>
          </a:p>
          <a:p>
            <a:pPr>
              <a:spcBef>
                <a:spcPts val="400"/>
              </a:spcBef>
              <a:defRPr sz="850" b="1">
                <a:solidFill>
                  <a:srgbClr val="06B6D4"/>
                </a:solidFill>
              </a:defRPr>
            </a:pPr>
            <a:r>
              <a:t>▸ Bukti Eviden / Audit Trail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Dokumen Kontrak API `docs/MOBILE_API.md`, Migration SQL `20260629_mobile_api.sql`, Controller `Mobile.php`, dan Review Doc `APP_REVIEW_RESOLUTION_20260728.md`.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371600"/>
            <a:ext cx="5212080" cy="51206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0975" y="1508760"/>
            <a:ext cx="484632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2. CUSTOMER TRANSAKSI STABIL</a:t>
            </a:r>
          </a:p>
          <a:p>
            <a:pPr>
              <a:spcBef>
                <a:spcPts val="200"/>
              </a:spcBef>
              <a:defRPr sz="900" b="1">
                <a:solidFill>
                  <a:srgbClr val="EAB308"/>
                </a:solidFill>
              </a:defRPr>
            </a:pPr>
            <a:r>
              <a:t>Status Kesiapan: 91% (On Progress)</a:t>
            </a:r>
          </a:p>
          <a:p>
            <a:pPr>
              <a:spcBef>
                <a:spcPts val="400"/>
              </a:spcBef>
              <a:defRPr sz="850" b="1">
                <a:solidFill>
                  <a:srgbClr val="06B6D4"/>
                </a:solidFill>
              </a:defRPr>
            </a:pPr>
            <a:r>
              <a:t>▸ Accomplishment (Pencapaian Nyata)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• Alur transaksi customer menjadi fokus utama pengembangan Karisma Online.</a:t>
            </a:r>
            <a:br/>
            <a:r>
              <a:t>• Validasi end-to-end dari pembuatan order hingga transaksi selesai.</a:t>
            </a:r>
          </a:p>
          <a:p>
            <a:pPr>
              <a:spcBef>
                <a:spcPts val="400"/>
              </a:spcBef>
              <a:defRPr sz="850" b="1">
                <a:solidFill>
                  <a:srgbClr val="F59E0B"/>
                </a:solidFill>
              </a:defRPr>
            </a:pPr>
            <a:r>
              <a:t>▸ Issue &amp; Root Cause (Tantangan)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• Stabilitas transaksi harus dibuktikan melalui penggunaan/UAT nyata di lapangan.</a:t>
            </a:r>
            <a:br/>
            <a:r>
              <a:t>• Potensi issue muncul pada integrasi antar-tahap transaksi.</a:t>
            </a:r>
          </a:p>
          <a:p>
            <a:pPr>
              <a:spcBef>
                <a:spcPts val="400"/>
              </a:spcBef>
              <a:defRPr sz="850" b="1">
                <a:solidFill>
                  <a:srgbClr val="38BDF8"/>
                </a:solidFill>
              </a:defRPr>
            </a:pPr>
            <a:r>
              <a:t>▸ Next Step (Langkah Solutif)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• Validasi alur Order → Pembayaran → Konfirmasi secara tuntas.</a:t>
            </a:r>
            <a:br/>
            <a:r>
              <a:t>• Dokumentasikan seluruh issue dan bottleneck yang ditemukan.</a:t>
            </a:r>
            <a:br/>
            <a:r>
              <a:t>• Prioritaskan perbaikan issue yang menghambat transaksi customer.</a:t>
            </a:r>
          </a:p>
          <a:p>
            <a:pPr>
              <a:spcBef>
                <a:spcPts val="400"/>
              </a:spcBef>
              <a:defRPr sz="850" b="1">
                <a:solidFill>
                  <a:srgbClr val="10B981"/>
                </a:solidFill>
              </a:defRPr>
            </a:pPr>
            <a:r>
              <a:t>▸ Risk Mitigation &amp; Mitigasi Risiko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• Gunakan skenario transaksi end-to-end terstandarisasi.</a:t>
            </a:r>
            <a:br/>
            <a:r>
              <a:t>• Continuous monitoring setelah aplikasi digunakan secara nyata.</a:t>
            </a:r>
            <a:br/>
            <a:r>
              <a:t>• Tentukan prioritas perbaikan berdasarkan dampak ke user.</a:t>
            </a:r>
          </a:p>
          <a:p>
            <a:pPr>
              <a:spcBef>
                <a:spcPts val="400"/>
              </a:spcBef>
              <a:defRPr sz="850" b="1">
                <a:solidFill>
                  <a:srgbClr val="06B6D4"/>
                </a:solidFill>
              </a:defRPr>
            </a:pPr>
            <a:r>
              <a:t>▸ Bukti Eviden / Audit Trail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Log file transaksi `curl_response_log.txt`, database schema `orders` &amp; `order_items`, serta validasi ACID Transaction pada `Mobile_api_model.php`.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BALANCED SCORECARD (BSC) // MEMIMPIN DENGAN DATA</a:t>
            </a:r>
          </a:p>
          <a:p>
            <a:pPr>
              <a:spcBef>
                <a:spcPts val="300"/>
              </a:spcBef>
              <a:defRPr sz="1800" b="1">
                <a:solidFill>
                  <a:srgbClr val="FFFFFF"/>
                </a:solidFill>
              </a:defRPr>
            </a:pPr>
            <a:r>
              <a:t>Analisis 3-Pilar &amp; Bukti Eviden: Must Win 3 &amp; 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D3C55"/>
          </a:solidFill>
          <a:ln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51206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4632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3. INTEGRASI PAYMENT GATEWAY STABIL</a:t>
            </a:r>
          </a:p>
          <a:p>
            <a:pPr>
              <a:spcBef>
                <a:spcPts val="200"/>
              </a:spcBef>
              <a:defRPr sz="900" b="1">
                <a:solidFill>
                  <a:srgbClr val="EAB308"/>
                </a:solidFill>
              </a:defRPr>
            </a:pPr>
            <a:r>
              <a:t>Status Kesiapan: 93% (On Progress)</a:t>
            </a:r>
          </a:p>
          <a:p>
            <a:pPr>
              <a:spcBef>
                <a:spcPts val="400"/>
              </a:spcBef>
              <a:defRPr sz="850" b="1">
                <a:solidFill>
                  <a:srgbClr val="06B6D4"/>
                </a:solidFill>
              </a:defRPr>
            </a:pPr>
            <a:r>
              <a:t>▸ Accomplishment (Pencapaian Nyata)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• Payment Gateway menjadi bagian integral dari alur transaksi Karisma Online.</a:t>
            </a:r>
            <a:br/>
            <a:r>
              <a:t>• Fokus validasi mencakup proses pembayaran dan status transaksi real-time.</a:t>
            </a:r>
          </a:p>
          <a:p>
            <a:pPr>
              <a:spcBef>
                <a:spcPts val="400"/>
              </a:spcBef>
              <a:defRPr sz="850" b="1">
                <a:solidFill>
                  <a:srgbClr val="F59E0B"/>
                </a:solidFill>
              </a:defRPr>
            </a:pPr>
            <a:r>
              <a:t>▸ Issue &amp; Root Cause (Tantangan)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• Dependensi langsung terhadap sistem eksternal mitra payment gateway.</a:t>
            </a:r>
            <a:br/>
            <a:r>
              <a:t>• Gangguan jaringan atau perubahan format respons gateway memengaruhi transaksi.</a:t>
            </a:r>
          </a:p>
          <a:p>
            <a:pPr>
              <a:spcBef>
                <a:spcPts val="400"/>
              </a:spcBef>
              <a:defRPr sz="850" b="1">
                <a:solidFill>
                  <a:srgbClr val="38BDF8"/>
                </a:solidFill>
              </a:defRPr>
            </a:pPr>
            <a:r>
              <a:t>▸ Next Step (Langkah Solutif)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• Validasi menyeluruh seluruh skenario metode pembayaran (VA, QRIS, Transfer).</a:t>
            </a:r>
            <a:br/>
            <a:r>
              <a:t>• Validasi sinkronisasi status pembayaran terhadap status order backend.</a:t>
            </a:r>
            <a:br/>
            <a:r>
              <a:t>• Dokumentasi penanganan transaksi gagal / callback abnormal.</a:t>
            </a:r>
          </a:p>
          <a:p>
            <a:pPr>
              <a:spcBef>
                <a:spcPts val="400"/>
              </a:spcBef>
              <a:defRPr sz="850" b="1">
                <a:solidFill>
                  <a:srgbClr val="10B981"/>
                </a:solidFill>
              </a:defRPr>
            </a:pPr>
            <a:r>
              <a:t>▸ Risk Mitigation &amp; Mitigasi Risiko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• Monitoring proaktif latency &amp; status transaksi callback.</a:t>
            </a:r>
            <a:br/>
            <a:r>
              <a:t>• Sediakan standar operasional penanganan transaksi abnormal/gantung.</a:t>
            </a:r>
            <a:br/>
            <a:r>
              <a:t>• Dokumentasikan dependensi &amp; mekanisme eskalasi cepat (SLA) mitra.</a:t>
            </a:r>
          </a:p>
          <a:p>
            <a:pPr>
              <a:spcBef>
                <a:spcPts val="400"/>
              </a:spcBef>
              <a:defRPr sz="850" b="1">
                <a:solidFill>
                  <a:srgbClr val="06B6D4"/>
                </a:solidFill>
              </a:defRPr>
            </a:pPr>
            <a:r>
              <a:t>▸ Bukti Eviden / Audit Trail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File integrasi `application/controllers/briva/briva_list_function.php`, `signature_log.txt`, `token_response_log.txt`, dan webhook handler callback BRIVA.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371600"/>
            <a:ext cx="5212080" cy="51206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0975" y="1508760"/>
            <a:ext cx="484632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4. UAT DENGAN MINIMAL 3 KIOS</a:t>
            </a:r>
          </a:p>
          <a:p>
            <a:pPr>
              <a:spcBef>
                <a:spcPts val="200"/>
              </a:spcBef>
              <a:defRPr sz="900" b="1">
                <a:solidFill>
                  <a:srgbClr val="EF4444"/>
                </a:solidFill>
              </a:defRPr>
            </a:pPr>
            <a:r>
              <a:t>Status Kesiapan: 85% (Perlu Intervensi Lapangan)</a:t>
            </a:r>
          </a:p>
          <a:p>
            <a:pPr>
              <a:spcBef>
                <a:spcPts val="400"/>
              </a:spcBef>
              <a:defRPr sz="850" b="1">
                <a:solidFill>
                  <a:srgbClr val="06B6D4"/>
                </a:solidFill>
              </a:defRPr>
            </a:pPr>
            <a:r>
              <a:t>▸ Accomplishment (Pencapaian Nyata)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• Target UAT telah ditetapkan minimal 3 kios untuk validasi operasional nyata.</a:t>
            </a:r>
          </a:p>
          <a:p>
            <a:pPr>
              <a:spcBef>
                <a:spcPts val="400"/>
              </a:spcBef>
              <a:defRPr sz="850" b="1">
                <a:solidFill>
                  <a:srgbClr val="F59E0B"/>
                </a:solidFill>
              </a:defRPr>
            </a:pPr>
            <a:r>
              <a:t>▸ Issue &amp; Root Cause (Tantangan)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• Hasil aktual UAT, data 3 kios, dan rekap temuan belum terekam penuh sebagai data selesai.</a:t>
            </a:r>
          </a:p>
          <a:p>
            <a:pPr>
              <a:spcBef>
                <a:spcPts val="400"/>
              </a:spcBef>
              <a:defRPr sz="850" b="1">
                <a:solidFill>
                  <a:srgbClr val="38BDF8"/>
                </a:solidFill>
              </a:defRPr>
            </a:pPr>
            <a:r>
              <a:t>▸ Next Step (Langkah Solutif)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• Melaksanakan UAT terstruktur pada minimal 3 kios representatif.</a:t>
            </a:r>
            <a:br/>
            <a:r>
              <a:t>• Mencatat hasil uji, masukan kasir/operator, dan kendala sistem.</a:t>
            </a:r>
            <a:br/>
            <a:r>
              <a:t>• Mengelompokkan temuan ke dalam Critical, Major, dan Minor.</a:t>
            </a:r>
          </a:p>
          <a:p>
            <a:pPr>
              <a:spcBef>
                <a:spcPts val="400"/>
              </a:spcBef>
              <a:defRPr sz="850" b="1">
                <a:solidFill>
                  <a:srgbClr val="10B981"/>
                </a:solidFill>
              </a:defRPr>
            </a:pPr>
            <a:r>
              <a:t>▸ Risk Mitigation &amp; Mitigasi Risiko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• Gunakan skenario dan lembar kerja UAT yang sama untuk seluruh kios.</a:t>
            </a:r>
            <a:br/>
            <a:r>
              <a:t>• Setiap hasil UAT wajib disertai bukti formal (screenshot/log/berita acara).</a:t>
            </a:r>
            <a:br/>
            <a:r>
              <a:t>• Seluruh issue penghambat transaksi wajib diselesaikan sebelum go-live.</a:t>
            </a:r>
          </a:p>
          <a:p>
            <a:pPr>
              <a:spcBef>
                <a:spcPts val="400"/>
              </a:spcBef>
              <a:defRPr sz="850" b="1">
                <a:solidFill>
                  <a:srgbClr val="06B6D4"/>
                </a:solidFill>
              </a:defRPr>
            </a:pPr>
            <a:r>
              <a:t>▸ Bukti Eviden / Audit Trail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Dokumen Skenario `SKENARIO-UAT-KIU-2026`, Berita Acara UAT 3 Kios Pilot, dan UAT Issue Tracking Sheet bertandatangan penanggung jawab.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BALANCED SCORECARD (BSC) // MEMIMPIN DENGAN DATA</a:t>
            </a:r>
          </a:p>
          <a:p>
            <a:pPr>
              <a:spcBef>
                <a:spcPts val="300"/>
              </a:spcBef>
              <a:defRPr sz="1800" b="1">
                <a:solidFill>
                  <a:srgbClr val="FFFFFF"/>
                </a:solidFill>
              </a:defRPr>
            </a:pPr>
            <a:r>
              <a:t>Deep Dive Must Win 5: Target Stabilitas 30 Hari &amp; Bukti 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D3C55"/>
          </a:solidFill>
          <a:ln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162032"/>
          </a:solidFill>
          <a:ln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MUST WIN 5: TIDAK ADA BUG CRITICAL 30 HARI SETELAH LIVE  (STATUS: 85% - FASE PERSIAPAN)</a:t>
            </a:r>
          </a:p>
          <a:p>
            <a:pPr>
              <a:spcBef>
                <a:spcPts val="300"/>
              </a:spcBef>
              <a:defRPr sz="900">
                <a:solidFill>
                  <a:srgbClr val="E2E8F0"/>
                </a:solidFill>
              </a:defRPr>
            </a:pPr>
            <a:r>
              <a:t>Target ini merupakan Key Performance Indicator (KPI) stabilitas operasional yang baru dapat dinilai tuntas setelah periode observasi produksi 30 hari berjalan penuh.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5285232" cy="16002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14600"/>
            <a:ext cx="495604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▸ Accomplishment (Pencapaian)</a:t>
            </a:r>
          </a:p>
          <a:p>
            <a:pPr>
              <a:spcBef>
                <a:spcPts val="400"/>
              </a:spcBef>
              <a:defRPr sz="850">
                <a:solidFill>
                  <a:srgbClr val="E2E8F0"/>
                </a:solidFill>
              </a:defRPr>
            </a:pPr>
            <a:r>
              <a:t>• Target stabilitas pasca-live telah ditetapkan dengan indikator 0 critical bug selama 30 hari kalender setelah live.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377440"/>
            <a:ext cx="5285232" cy="16002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2514600"/>
            <a:ext cx="495604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▸ Issue &amp; Root Cause (Tantangan)</a:t>
            </a:r>
          </a:p>
          <a:p>
            <a:pPr>
              <a:spcBef>
                <a:spcPts val="400"/>
              </a:spcBef>
              <a:defRPr sz="850">
                <a:solidFill>
                  <a:srgbClr val="E2E8F0"/>
                </a:solidFill>
              </a:defRPr>
            </a:pPr>
            <a:r>
              <a:t>• Target baru dapat dinilai setelah masa monitoring 30 hari berjalan.</a:t>
            </a:r>
            <a:br/>
            <a:r>
              <a:t>• Belum ada data rekam histori bug pada periode produksi tersebut.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85232" cy="16002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251960"/>
            <a:ext cx="495604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▸ Next Step (Tindak Lanjut)</a:t>
            </a:r>
          </a:p>
          <a:p>
            <a:pPr>
              <a:spcBef>
                <a:spcPts val="400"/>
              </a:spcBef>
              <a:defRPr sz="850">
                <a:solidFill>
                  <a:srgbClr val="E2E8F0"/>
                </a:solidFill>
              </a:defRPr>
            </a:pPr>
            <a:r>
              <a:t>• Menetapkan tanggal mulai resmi (T0) monitoring live.</a:t>
            </a:r>
            <a:br/>
            <a:r>
              <a:t>• Monitoring stabilitas sistem harian selama 30 hari.</a:t>
            </a:r>
            <a:br/>
            <a:r>
              <a:t>• Melakukan klasifikasi dan pencatatan setiap temuan bug.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114800"/>
            <a:ext cx="5285232" cy="16002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4251960"/>
            <a:ext cx="495604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▸ Risk Mitigation &amp; Eviden</a:t>
            </a:r>
          </a:p>
          <a:p>
            <a:pPr>
              <a:spcBef>
                <a:spcPts val="400"/>
              </a:spcBef>
              <a:defRPr sz="850">
                <a:solidFill>
                  <a:srgbClr val="E2E8F0"/>
                </a:solidFill>
              </a:defRPr>
            </a:pPr>
            <a:r>
              <a:t>• Prioritaskan perbaikan cepat pada bug critical transaksi.</a:t>
            </a:r>
            <a:br/>
            <a:r>
              <a:t>• Jalur eskalasi darurat 24/7 selama D+30.</a:t>
            </a:r>
            <a:br/>
            <a:r>
              <a:t>• Eviden: Log `application/logs/`, Template Incident D+30.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943600"/>
            <a:ext cx="10728655" cy="594360"/>
          </a:xfrm>
          <a:prstGeom prst="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989320"/>
            <a:ext cx="104543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6B6D4"/>
                </a:solidFill>
              </a:defRPr>
            </a:pPr>
            <a:r>
              <a:t>STANDAR SLA RESOLUSI BUG D+30:  Critical Bug (Respon &lt;15 mnt, Fix &lt;4 jam)  |  Major Bug (Respon &lt;1 jam, Fix &lt;24 jam)  |  Minor Bug (Rilis Mingguan)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BALANCED SCORECARD (BSC) // MEMIMPIN DENGAN DATA</a:t>
            </a:r>
          </a:p>
          <a:p>
            <a:pPr>
              <a:spcBef>
                <a:spcPts val="300"/>
              </a:spcBef>
              <a:defRPr sz="1800" b="1">
                <a:solidFill>
                  <a:srgbClr val="FFFFFF"/>
                </a:solidFill>
              </a:defRPr>
            </a:pPr>
            <a:r>
              <a:t>Analisis 3-Pilar &amp; Bukti Eviden: Must Win 6 &amp; 7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D3C55"/>
          </a:solidFill>
          <a:ln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51206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4632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6. DOKUMENTASI SISTEM &amp; PANDUAN</a:t>
            </a:r>
          </a:p>
          <a:p>
            <a:pPr>
              <a:spcBef>
                <a:spcPts val="200"/>
              </a:spcBef>
              <a:defRPr sz="900" b="1">
                <a:solidFill>
                  <a:srgbClr val="EAB308"/>
                </a:solidFill>
              </a:defRPr>
            </a:pPr>
            <a:r>
              <a:t>Status Kesiapan: 90% (On Progress)</a:t>
            </a:r>
          </a:p>
          <a:p>
            <a:pPr>
              <a:spcBef>
                <a:spcPts val="400"/>
              </a:spcBef>
              <a:defRPr sz="850" b="1">
                <a:solidFill>
                  <a:srgbClr val="06B6D4"/>
                </a:solidFill>
              </a:defRPr>
            </a:pPr>
            <a:r>
              <a:t>▸ Accomplishment (Pencapaian Nyata)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• Dokumentasi ditetapkan sebagai deliverable utama Karisma Online, bukan pekerjaan tambahan.</a:t>
            </a:r>
          </a:p>
          <a:p>
            <a:pPr>
              <a:spcBef>
                <a:spcPts val="400"/>
              </a:spcBef>
              <a:defRPr sz="850" b="1">
                <a:solidFill>
                  <a:srgbClr val="F59E0B"/>
                </a:solidFill>
              </a:defRPr>
            </a:pPr>
            <a:r>
              <a:t>▸ Issue &amp; Root Cause (Tantangan)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• Rekapitulasi jenis dokumen dan status penyelesaiannya belum dipetakan secara terpusat.</a:t>
            </a:r>
          </a:p>
          <a:p>
            <a:pPr>
              <a:spcBef>
                <a:spcPts val="400"/>
              </a:spcBef>
              <a:defRPr sz="850" b="1">
                <a:solidFill>
                  <a:srgbClr val="38BDF8"/>
                </a:solidFill>
              </a:defRPr>
            </a:pPr>
            <a:r>
              <a:t>▸ Next Step (Langkah Solutif)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• Finalisasi dokumentasi penggunaan aplikasi (User Manual &amp; Kasir).</a:t>
            </a:r>
            <a:br/>
            <a:r>
              <a:t>• Dokumentasikan seluruh alur transaksi dan kontrak API.</a:t>
            </a:r>
            <a:br/>
            <a:r>
              <a:t>• Dokumentasikan hasil UAT dan arsitektur sistem.</a:t>
            </a:r>
          </a:p>
          <a:p>
            <a:pPr>
              <a:spcBef>
                <a:spcPts val="400"/>
              </a:spcBef>
              <a:defRPr sz="850" b="1">
                <a:solidFill>
                  <a:srgbClr val="10B981"/>
                </a:solidFill>
              </a:defRPr>
            </a:pPr>
            <a:r>
              <a:t>▸ Risk Mitigation &amp; Mitigasi Risiko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• Master checklist kelengkapan dokumen terpusat.</a:t>
            </a:r>
            <a:br/>
            <a:r>
              <a:t>• Status dokumen jelas: Draft → Review → Final.</a:t>
            </a:r>
          </a:p>
          <a:p>
            <a:pPr>
              <a:spcBef>
                <a:spcPts val="400"/>
              </a:spcBef>
              <a:defRPr sz="850" b="1">
                <a:solidFill>
                  <a:srgbClr val="06B6D4"/>
                </a:solidFill>
              </a:defRPr>
            </a:pPr>
            <a:r>
              <a:t>▸ Bukti Eviden / Audit Trail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Dokumen `docs/MOBILE_API.md`, `docs/APP_REVIEW_RESOLUTION_20260728.md`, SQL Migrations di `db/migrations/`, dan repositori dokumen resmi.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371600"/>
            <a:ext cx="5212080" cy="51206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0975" y="1508760"/>
            <a:ext cx="484632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7. SOP TRANSAKSI KIOS</a:t>
            </a:r>
          </a:p>
          <a:p>
            <a:pPr>
              <a:spcBef>
                <a:spcPts val="200"/>
              </a:spcBef>
              <a:defRPr sz="900" b="1">
                <a:solidFill>
                  <a:srgbClr val="EF4444"/>
                </a:solidFill>
              </a:defRPr>
            </a:pPr>
            <a:r>
              <a:t>Status Kesiapan: 88% (Perlu Finalisasi Aktual)</a:t>
            </a:r>
          </a:p>
          <a:p>
            <a:pPr>
              <a:spcBef>
                <a:spcPts val="400"/>
              </a:spcBef>
              <a:defRPr sz="850" b="1">
                <a:solidFill>
                  <a:srgbClr val="06B6D4"/>
                </a:solidFill>
              </a:defRPr>
            </a:pPr>
            <a:r>
              <a:t>▸ Accomplishment (Pencapaian Nyata)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• SOP transaksi kios ditetapkan sebagai salah satu Must Win strategis peluncuran Karisma Online.</a:t>
            </a:r>
          </a:p>
          <a:p>
            <a:pPr>
              <a:spcBef>
                <a:spcPts val="400"/>
              </a:spcBef>
              <a:defRPr sz="850" b="1">
                <a:solidFill>
                  <a:srgbClr val="F59E0B"/>
                </a:solidFill>
              </a:defRPr>
            </a:pPr>
            <a:r>
              <a:t>▸ Issue &amp; Root Cause (Tantangan)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• Status pengesahan dan validasi SOP belum diberikan lengkap.</a:t>
            </a:r>
            <a:br/>
            <a:r>
              <a:t>• SOP berisiko tidak aplikatif bila dibuat tanpa mengacu proses riil.</a:t>
            </a:r>
          </a:p>
          <a:p>
            <a:pPr>
              <a:spcBef>
                <a:spcPts val="400"/>
              </a:spcBef>
              <a:defRPr sz="850" b="1">
                <a:solidFill>
                  <a:srgbClr val="38BDF8"/>
                </a:solidFill>
              </a:defRPr>
            </a:pPr>
            <a:r>
              <a:t>▸ Next Step (Langkah Solutif)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• Susun SOP berpedoman ketat pada alur transaksi riil sistem.</a:t>
            </a:r>
            <a:br/>
            <a:r>
              <a:t>• Validasi SOP terhadap temuan dan evaluasi UAT kios.</a:t>
            </a:r>
            <a:br/>
            <a:r>
              <a:t>• Finalisasi SOP dan lakukan sosialisasi/training ke seluruh personel kios.</a:t>
            </a:r>
          </a:p>
          <a:p>
            <a:pPr>
              <a:spcBef>
                <a:spcPts val="400"/>
              </a:spcBef>
              <a:defRPr sz="850" b="1">
                <a:solidFill>
                  <a:srgbClr val="10B981"/>
                </a:solidFill>
              </a:defRPr>
            </a:pPr>
            <a:r>
              <a:t>▸ Risk Mitigation &amp; Mitigasi Risiko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• SOP wajib mengikuti proses aplikasi yang benar-benar berjalan.</a:t>
            </a:r>
            <a:br/>
            <a:r>
              <a:t>• Review berkala jika ditemukan pembaruan fitur transaksi.</a:t>
            </a:r>
            <a:br/>
            <a:r>
              <a:t>• Troubleshooting Flowchart penanganan kendala kasir.</a:t>
            </a:r>
          </a:p>
          <a:p>
            <a:pPr>
              <a:spcBef>
                <a:spcPts val="400"/>
              </a:spcBef>
              <a:defRPr sz="850" b="1">
                <a:solidFill>
                  <a:srgbClr val="06B6D4"/>
                </a:solidFill>
              </a:defRPr>
            </a:pPr>
            <a:r>
              <a:t>▸ Bukti Eviden / Audit Trail</a:t>
            </a:r>
          </a:p>
          <a:p>
            <a:pPr>
              <a:spcBef>
                <a:spcPts val="100"/>
              </a:spcBef>
              <a:defRPr sz="750">
                <a:solidFill>
                  <a:srgbClr val="E2E8F0"/>
                </a:solidFill>
              </a:defRPr>
            </a:pPr>
            <a:r>
              <a:t>Dokumen SOP Resmi `SOP/IT-KIU/2026/001`, Flowchart Kasir Kios, dan Berita Acara Sosialisasi Training Kasir.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BALANCED SCORECARD (BSC) // MEMIMPIN DENGAN DATA</a:t>
            </a:r>
          </a:p>
          <a:p>
            <a:pPr>
              <a:spcBef>
                <a:spcPts val="300"/>
              </a:spcBef>
              <a:defRPr sz="1800" b="1">
                <a:solidFill>
                  <a:srgbClr val="FFFFFF"/>
                </a:solidFill>
              </a:defRPr>
            </a:pPr>
            <a:r>
              <a:t>Saran &amp; Rekomendasi Strategis Eksekutif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D3C55"/>
          </a:solidFill>
          <a:ln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1. Multi-Platform Feature Parity Matrix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</a:defRPr>
            </a:pPr>
            <a:r>
              <a:t>Membuat Dokumen Feature Parity Matrix antara Android dan Web agar seluruh alur transaksi, perhitungan diskon, dan limit kredit identik secara logika fungsional.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48132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6B6D4"/>
                </a:solidFill>
              </a:defRPr>
            </a:pPr>
            <a:r>
              <a:t>PIC: Tim Mobile &amp; QA</a:t>
            </a:r>
          </a:p>
          <a:p>
            <a:pPr algn="r">
              <a:spcBef>
                <a:spcPts val="200"/>
              </a:spcBef>
              <a:defRPr sz="800">
                <a:solidFill>
                  <a:srgbClr val="94A3B8"/>
                </a:solidFill>
              </a:defRPr>
            </a:pPr>
            <a:r>
              <a:t>Target: Sebelum Kickoff UAT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0728655" cy="86868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2. Gate Review Berita Acara UAT 3 Kios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</a:defRPr>
            </a:pPr>
            <a:r>
              <a:t>Menerbitkan Berita Acara UAT Formal untuk minimal 3 kios dengan skenario uji seragam. Syarat mutlak kelulusan Go-Live: 100% tes transaksi berhasil dan zero bug critical.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44144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6B6D4"/>
                </a:solidFill>
              </a:defRPr>
            </a:pPr>
            <a:r>
              <a:t>PIC: Tim QA &amp; Operasional</a:t>
            </a:r>
          </a:p>
          <a:p>
            <a:pPr algn="r">
              <a:spcBef>
                <a:spcPts val="200"/>
              </a:spcBef>
              <a:defRPr sz="800">
                <a:solidFill>
                  <a:srgbClr val="94A3B8"/>
                </a:solidFill>
              </a:defRPr>
            </a:pPr>
            <a:r>
              <a:t>Target: Minggu 1-2 Agustus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10728655" cy="86868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3. SLA Resolusi Bug &amp; War Room D+30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</a:defRPr>
            </a:pPr>
            <a:r>
              <a:t>Menerapkan protokol siaga 24/7 dan matriks eskalasi bug pasca-live: Critical Bug (Respon &lt;15 mnt, Fix &lt;4 jam), Major Bug (&lt;24 jam), Minor Bug (Rilis mingguan).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40156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6B6D4"/>
                </a:solidFill>
              </a:defRPr>
            </a:pPr>
            <a:r>
              <a:t>PIC: IT Support &amp; Backend</a:t>
            </a:r>
          </a:p>
          <a:p>
            <a:pPr algn="r">
              <a:spcBef>
                <a:spcPts val="200"/>
              </a:spcBef>
              <a:defRPr sz="800">
                <a:solidFill>
                  <a:srgbClr val="94A3B8"/>
                </a:solidFill>
              </a:defRPr>
            </a:pPr>
            <a:r>
              <a:t>Target: H+1 s/d H+30 Live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10728655" cy="86868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4. Payment Idempotency &amp; Auto-Reconcile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</a:defRPr>
            </a:pPr>
            <a:r>
              <a:t>Menyediakan mekanisme Idempotency Token dan Webhook Signature Verification untuk mengantisipasi callback ganda atau gangguan timeout dari payment gateway.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436168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6B6D4"/>
                </a:solidFill>
              </a:defRPr>
            </a:pPr>
            <a:r>
              <a:t>PIC: Backend &amp; Keuangan</a:t>
            </a:r>
          </a:p>
          <a:p>
            <a:pPr algn="r">
              <a:spcBef>
                <a:spcPts val="200"/>
              </a:spcBef>
              <a:defRPr sz="800">
                <a:solidFill>
                  <a:srgbClr val="94A3B8"/>
                </a:solidFill>
              </a:defRPr>
            </a:pPr>
            <a:r>
              <a:t>Target: Fase Finalisasi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212080"/>
            <a:ext cx="10728655" cy="86868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5. SOP Troubleshooting Flowchart Kios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</a:defRPr>
            </a:pPr>
            <a:r>
              <a:t>Menyusun SOP yang menyertakan Panduan Penanganan Kendala Cepat bagi kasir saat terjadi gangguan jaringan atau transaksi berstatus pending.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532180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6B6D4"/>
                </a:solidFill>
              </a:defRPr>
            </a:pPr>
            <a:r>
              <a:t>PIC: Operasional &amp; Training</a:t>
            </a:r>
          </a:p>
          <a:p>
            <a:pPr algn="r">
              <a:spcBef>
                <a:spcPts val="200"/>
              </a:spcBef>
              <a:defRPr sz="800">
                <a:solidFill>
                  <a:srgbClr val="94A3B8"/>
                </a:solidFill>
              </a:defRPr>
            </a:pPr>
            <a:r>
              <a:t>Target: Bersamaan UAT Kios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